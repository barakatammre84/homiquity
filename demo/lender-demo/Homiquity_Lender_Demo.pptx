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C3A8F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57200"/>
            <a:ext cx="1828800" cy="1828800"/>
          </a:xfrm>
          <a:prstGeom prst="ellipse">
            <a:avLst/>
          </a:prstGeom>
          <a:solidFill>
            <a:srgbClr val="10B981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 ·  MORTGAGE CORPORATION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digital mortgage brokerage that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delivers lender-ready files.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Certainty and speed</a:t>
            </a:r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5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complete, standards-valid MISMO 3.4 package,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5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decision-ready on the first pass.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Wholesale-partner briefing  ·  NMLS licensing in progress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19963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50976" y="61813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Veteran-founded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 is a mess — so everyone pays for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40080" cy="640080"/>
          </a:xfrm>
          <a:prstGeom prst="ellipse">
            <a:avLst/>
          </a:prstGeom>
          <a:solidFill>
            <a:srgbClr val="EEF2F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" y="1870862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5506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borrower waits, blind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01168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pass with no idea where they stand — anxiety, drop-off, and lost deals.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640080" cy="640080"/>
          </a:xfrm>
          <a:prstGeom prst="ellipse">
            <a:avLst/>
          </a:prstGeom>
          <a:solidFill>
            <a:srgbClr val="EEF2F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02" y="328818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30723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lender gets a disorganized packet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508760" y="3429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Incomplete, non-standard files get bounced back for what's missing — twice.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526280"/>
            <a:ext cx="640080" cy="640080"/>
          </a:xfrm>
          <a:prstGeom prst="ellipse">
            <a:avLst/>
          </a:prstGeom>
          <a:solidFill>
            <a:srgbClr val="EEF2F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" y="470550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4897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re-keys the same data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508760" y="48463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numbers are re-entered by hand at every hand-off, adding errors and delay.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7772400" y="1783080"/>
            <a:ext cx="3749040" cy="4023360"/>
          </a:xfrm>
          <a:prstGeom prst="roundRect">
            <a:avLst>
              <a:gd name="adj" fmla="val 3415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092440" y="2148840"/>
            <a:ext cx="822960" cy="82296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869" y="2379269"/>
            <a:ext cx="362102" cy="36210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092440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Homiquity's fix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092440" y="342900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a borrower's raw inputs into one organized, lender-ready package — fast, honest, and compliant — and deliver it straight to a wholesale lender.</a:t>
            </a:r>
            <a:endParaRPr lang="en-US" sz="17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mortgage broker — the loop is borrower ↔ lender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2834640" cy="1554480"/>
          </a:xfrm>
          <a:prstGeom prst="roundRect">
            <a:avLst>
              <a:gd name="adj" fmla="val 7059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670048"/>
            <a:ext cx="685800" cy="68580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862072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67004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143000" y="33101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Applies, uploads,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coached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17720" y="2377440"/>
            <a:ext cx="2834640" cy="1554480"/>
          </a:xfrm>
          <a:prstGeom prst="roundRect">
            <a:avLst>
              <a:gd name="adj" fmla="val 7059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2670048"/>
            <a:ext cx="685800" cy="68580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784" y="2862072"/>
            <a:ext cx="301752" cy="301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715000" y="267004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937760" y="33101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Organizes, validates,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packages, delivers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412480" y="2377440"/>
            <a:ext cx="2834640" cy="1554480"/>
          </a:xfrm>
          <a:prstGeom prst="roundRect">
            <a:avLst>
              <a:gd name="adj" fmla="val 7059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732520" y="2670048"/>
            <a:ext cx="685800" cy="68580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2862072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509760" y="267004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lender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732520" y="33101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Underwrites, closes,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926080"/>
            <a:ext cx="457200" cy="45720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292608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0080" y="45720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 </a:t>
            </a:r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borrower completes intake → gets an instant, deterministic pre-approval read → their file becomes a standards-valid MISMO package → we deliver it to a wholesale lender.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640080" y="55321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listings, and homeowner tools feed or extend the loop — they never sit on the critical path to a funded loan.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a funded-ready package — 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23595" y="2514600"/>
            <a:ext cx="731520" cy="73152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420" y="2719426"/>
            <a:ext cx="321869" cy="3218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funnel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SEO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069" y="3008376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22677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2659837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906192" y="2514600"/>
            <a:ext cx="731520" cy="7315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017" y="2719426"/>
            <a:ext cx="321869" cy="3218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522677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2568397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Consented URLA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TRID clock</a:t>
            </a:r>
            <a:endParaRPr lang="en-US" sz="11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666" y="3008376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405274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4542434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4788789" y="2514600"/>
            <a:ext cx="731520" cy="73152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3615" y="2719426"/>
            <a:ext cx="321869" cy="321869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405274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4450994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pre-approval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3008376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287872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6425032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Shape 19"/>
          <p:cNvSpPr/>
          <p:nvPr/>
        </p:nvSpPr>
        <p:spPr>
          <a:xfrm>
            <a:off x="6671386" y="2514600"/>
            <a:ext cx="731520" cy="7315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6212" y="2719426"/>
            <a:ext cx="321869" cy="321869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287872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6333592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3.4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ULDD valid</a:t>
            </a:r>
            <a:endParaRPr lang="en-US" sz="11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7861" y="3008376"/>
            <a:ext cx="201168" cy="201168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8170469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33" name="Text 23"/>
          <p:cNvSpPr/>
          <p:nvPr/>
        </p:nvSpPr>
        <p:spPr>
          <a:xfrm>
            <a:off x="8307629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Shape 24"/>
          <p:cNvSpPr/>
          <p:nvPr/>
        </p:nvSpPr>
        <p:spPr>
          <a:xfrm>
            <a:off x="8553983" y="2514600"/>
            <a:ext cx="731520" cy="73152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8809" y="2719426"/>
            <a:ext cx="321869" cy="321869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8170469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AUS</a:t>
            </a:r>
            <a:endParaRPr lang="en-US" sz="1500" dirty="0"/>
          </a:p>
        </p:txBody>
      </p:sp>
      <p:sp>
        <p:nvSpPr>
          <p:cNvPr id="37" name="Text 26"/>
          <p:cNvSpPr/>
          <p:nvPr/>
        </p:nvSpPr>
        <p:spPr>
          <a:xfrm>
            <a:off x="8216189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+ LPA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</p:txBody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60458" y="3008376"/>
            <a:ext cx="201168" cy="201168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10053066" y="1965960"/>
            <a:ext cx="1498549" cy="2286000"/>
          </a:xfrm>
          <a:prstGeom prst="roundRect">
            <a:avLst>
              <a:gd name="adj" fmla="val 6102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40" name="Text 28"/>
          <p:cNvSpPr/>
          <p:nvPr/>
        </p:nvSpPr>
        <p:spPr>
          <a:xfrm>
            <a:off x="10190226" y="20756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1" name="Shape 29"/>
          <p:cNvSpPr/>
          <p:nvPr/>
        </p:nvSpPr>
        <p:spPr>
          <a:xfrm>
            <a:off x="10436581" y="2514600"/>
            <a:ext cx="731520" cy="7315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1406" y="2719426"/>
            <a:ext cx="321869" cy="321869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10053066" y="3337560"/>
            <a:ext cx="14985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500" dirty="0"/>
          </a:p>
        </p:txBody>
      </p:sp>
      <p:sp>
        <p:nvSpPr>
          <p:cNvPr id="44" name="Text 31"/>
          <p:cNvSpPr/>
          <p:nvPr/>
        </p:nvSpPr>
        <p:spPr>
          <a:xfrm>
            <a:off x="10098786" y="3657600"/>
            <a:ext cx="14071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wholesale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0F1729"/>
          </a:solidFill>
          <a:ln/>
        </p:spPr>
      </p:sp>
      <p:sp>
        <p:nvSpPr>
          <p:cNvPr id="46" name="Shape 33"/>
          <p:cNvSpPr/>
          <p:nvPr/>
        </p:nvSpPr>
        <p:spPr>
          <a:xfrm>
            <a:off x="896112" y="489204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4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930" y="5032858"/>
            <a:ext cx="221285" cy="221285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1600200" y="470916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+ audited end to end.  </a:t>
            </a:r>
            <a:pPr indent="0" marL="0">
              <a:buNone/>
            </a:pPr>
            <a:r>
              <a:rPr lang="en-US" sz="135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blocked until intake, AUS, and the lender package are clean — and every step is captured for the record.</a:t>
            </a:r>
            <a:endParaRPr lang="en-US" sz="1350" dirty="0"/>
          </a:p>
        </p:txBody>
      </p:sp>
      <p:sp>
        <p:nvSpPr>
          <p:cNvPr id="49" name="Text 35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50" name="Text 36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· ACQUIRE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bring you qualified, consented borrowers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purpose-built top-of-funnel — persona landing pages, an SEO/content engine, and free decision tools — captures buyers early and hands them into the loop with consent already in hand.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429000"/>
            <a:ext cx="502920" cy="5029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3569818"/>
            <a:ext cx="221285" cy="22128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37413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landing pages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25880" y="3685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buyer, VA, self-employed, refinance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4297680"/>
            <a:ext cx="502920" cy="5029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4438498"/>
            <a:ext cx="221285" cy="22128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25880" y="42428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+ education engine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325880" y="45537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Articles, glossary, buying-power tools that rank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166360"/>
            <a:ext cx="502920" cy="50292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5307178"/>
            <a:ext cx="221285" cy="22128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511149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Strength + calculators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325880" y="54223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calculators that turn browsers into applicants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309360" y="1691640"/>
            <a:ext cx="2606040" cy="1965960"/>
          </a:xfrm>
          <a:prstGeom prst="roundRect">
            <a:avLst>
              <a:gd name="adj" fmla="val 4651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223760" y="2075688"/>
            <a:ext cx="777240" cy="7772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387" y="2293315"/>
            <a:ext cx="341986" cy="34198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30936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buyer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9235440" y="1691640"/>
            <a:ext cx="2606040" cy="1965960"/>
          </a:xfrm>
          <a:prstGeom prst="roundRect">
            <a:avLst>
              <a:gd name="adj" fmla="val 4651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10149840" y="2075688"/>
            <a:ext cx="777240" cy="77724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7467" y="2293315"/>
            <a:ext cx="341986" cy="34198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23544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loans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309360" y="3977640"/>
            <a:ext cx="2606040" cy="1965960"/>
          </a:xfrm>
          <a:prstGeom prst="roundRect">
            <a:avLst>
              <a:gd name="adj" fmla="val 4651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7223760" y="4361688"/>
            <a:ext cx="777240" cy="7772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1387" y="4579315"/>
            <a:ext cx="341986" cy="34198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309360" y="5303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Self-employed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9235440" y="3977640"/>
            <a:ext cx="2606040" cy="1965960"/>
          </a:xfrm>
          <a:prstGeom prst="roundRect">
            <a:avLst>
              <a:gd name="adj" fmla="val 4651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10149840" y="4361688"/>
            <a:ext cx="777240" cy="77724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7467" y="4579315"/>
            <a:ext cx="341986" cy="341986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9235440" y="5303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Refinance</a:t>
            </a:r>
            <a:endParaRPr lang="en-US" sz="1400" dirty="0"/>
          </a:p>
        </p:txBody>
      </p:sp>
      <p:sp>
        <p:nvSpPr>
          <p:cNvPr id="33" name="Text 24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4" name="Text 25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· INTAKE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complete, consented application — done right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5681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611" y="2105315"/>
            <a:ext cx="233355" cy="2333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4708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Consented URLA (Form 1003)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126480" y="184708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application, captured cleanly — with the borrower's consent recorded before anything moves.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05409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611" y="3202595"/>
            <a:ext cx="233355" cy="23335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TRID clock starts at exactly six pieces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126480" y="29443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moment sooner or later — the six application elements trigger the timing, correctly, every time.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93192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896112" y="415137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11" y="4299875"/>
            <a:ext cx="233355" cy="23335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416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E-disclosures + e-consent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126480" y="404164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ESIGN-compliant delivery and consent, tracked and auditable.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20" name="Shape 15"/>
          <p:cNvSpPr/>
          <p:nvPr/>
        </p:nvSpPr>
        <p:spPr>
          <a:xfrm>
            <a:off x="896112" y="524865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611" y="5397155"/>
            <a:ext cx="233355" cy="23335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13892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document coaching — extraction only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126480" y="51389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structures and completes the file. It never decides, and never implies approval or eligibility.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· DECIDE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instant pre-approval read you can trust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4114800" cy="3977640"/>
          </a:xfrm>
          <a:prstGeom prst="roundRect">
            <a:avLst>
              <a:gd name="adj" fmla="val 3218"/>
            </a:avLst>
          </a:prstGeom>
          <a:solidFill>
            <a:srgbClr val="142A66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14884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Deterministic.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AI-free.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05840" y="46177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CF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 → same outcome. No black box, no model deciding who qualifies.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166360" y="178308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9979" y="19366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897880" y="172821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read in one session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897880" y="20574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Affordability, DTI, and credit-tier math resolve immediately — the borrower knows where they stand.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166360" y="278892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979" y="294253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273405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LLPA-aware pricing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897880" y="3063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adjustments computed against agency grids — cited, not guessed.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166360" y="379476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979" y="394837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897880" y="373989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routes to a human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897880" y="4069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 are escalated to staff, never auto-decided by the machine.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166360" y="480060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9979" y="4954219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897880" y="474573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action handled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897880" y="50749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adverse action without the required notice — FCRA/ECOA by construction.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· PACKAGE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package that's decision-ready on the first pass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9339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" y="2147011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9339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3.4 / ULDD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96112" y="260604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Standards-valid output (ULDD Phase 5) — the format your systems ingest.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938" y="173736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39970" y="199339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590" y="2147011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98338" y="199339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 points-and-fees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639970" y="260604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Points-and-fees and APR-APOR spread pre-flighted against the note-date thresholds.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7797" y="173736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83829" y="199339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448" y="2147011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42197" y="199339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Anti-steering disclosure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83829" y="260604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 Z §1026.36(e)(3) options presented before anything is locked.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365760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96112" y="391363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731" y="4067251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54480" y="391363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Feature Codes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96112" y="452628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SFCs derived and validated as a set — not hand-typed.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83938" y="365760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39970" y="391363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3590" y="4067251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98338" y="391363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UCD / ULDD / EarlyCheck mirror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639970" y="452628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your delivery edits as a lender's-eye pre-check before you ever see the file.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27797" y="3657600"/>
            <a:ext cx="3423818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83829" y="3913632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7448" y="4067251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042197" y="3913632"/>
            <a:ext cx="2326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+ consistent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83829" y="4526280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Outstanding-document gating means nothing critical is missing at submission.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you care:  </a:t>
            </a:r>
            <a:pPr indent="0" marL="0">
              <a:buNone/>
            </a:pPr>
            <a:r>
              <a:rPr lang="en-US" sz="1400" i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standards-valid file underwrites faster and bounces less — lowering your cost per loan.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 · DUAL AUS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and LPA — findings captured before delivery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229514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214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Underwriter (DU)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783080" y="24871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Fannie Mae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18211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1546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Casefile assembled from the verified file</a:t>
            </a:r>
            <a:endParaRPr lang="en-US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74904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372160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DU-12.1-shaped findings captured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15968"/>
            <a:ext cx="219456" cy="2194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4288536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Day-1-Certainty-style commitment output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6400800" y="1783080"/>
            <a:ext cx="5486400" cy="3383280"/>
          </a:xfrm>
          <a:prstGeom prst="roundRect">
            <a:avLst>
              <a:gd name="adj" fmla="val 3243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6720840" y="2103120"/>
            <a:ext cx="685800" cy="68580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4" y="2295144"/>
            <a:ext cx="301752" cy="30175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543800" y="21214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Product Advisor (LPA)</a:t>
            </a:r>
            <a:endParaRPr lang="en-US" sz="1700" dirty="0"/>
          </a:p>
        </p:txBody>
      </p:sp>
      <p:sp>
        <p:nvSpPr>
          <p:cNvPr id="19" name="Text 12"/>
          <p:cNvSpPr/>
          <p:nvPr/>
        </p:nvSpPr>
        <p:spPr>
          <a:xfrm>
            <a:off x="7543800" y="24871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Freddie Mac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182112"/>
            <a:ext cx="219456" cy="21945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31546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agency leg run in parallel</a:t>
            </a:r>
            <a:endParaRPr lang="en-US" sz="13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749040"/>
            <a:ext cx="219456" cy="219456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72160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reconciled against the DU read</a:t>
            </a:r>
            <a:endParaRPr lang="en-US" sz="13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4315968"/>
            <a:ext cx="219456" cy="219456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4288536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Broadens the wholesale channels you can serve</a:t>
            </a:r>
            <a:endParaRPr lang="en-US" sz="1300" dirty="0"/>
          </a:p>
        </p:txBody>
      </p:sp>
      <p:sp>
        <p:nvSpPr>
          <p:cNvPr id="26" name="Shape 16"/>
          <p:cNvSpPr/>
          <p:nvPr/>
        </p:nvSpPr>
        <p:spPr>
          <a:xfrm>
            <a:off x="640080" y="544068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BF5E7"/>
          </a:solidFill>
          <a:ln/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5596128"/>
            <a:ext cx="292608" cy="292608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1325880" y="5440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AUS legs run as deterministic simulations behind production adapters today; they switch to live DU/LPA the day Homiquity is credentialed — the integration seam is already built.</a:t>
            </a:r>
            <a:endParaRPr lang="en-US" sz="1150" dirty="0"/>
          </a:p>
        </p:txBody>
      </p:sp>
      <p:sp>
        <p:nvSpPr>
          <p:cNvPr id="29" name="Text 18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0" name="Text 19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6 · DELIVER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Submission-ready, into your TPO channel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 shortlist of wholesale partners, a real submission state machine, and a readiness gate that won't let a file go until it's clean.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496312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4028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Wholesale Mortgage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2240280"/>
            <a:ext cx="1510589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8" name="Text 6"/>
          <p:cNvSpPr/>
          <p:nvPr/>
        </p:nvSpPr>
        <p:spPr>
          <a:xfrm>
            <a:off x="3364992" y="2240280"/>
            <a:ext cx="15105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Rocket Pro TPO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104181" y="2240280"/>
            <a:ext cx="1958645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/>
          <p:nvPr/>
        </p:nvSpPr>
        <p:spPr>
          <a:xfrm>
            <a:off x="5104181" y="2240280"/>
            <a:ext cx="19586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Plaza Home Mortgage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291426" y="2240280"/>
            <a:ext cx="1062533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12" name="Text 10"/>
          <p:cNvSpPr/>
          <p:nvPr/>
        </p:nvSpPr>
        <p:spPr>
          <a:xfrm>
            <a:off x="7291426" y="2240280"/>
            <a:ext cx="10625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 Oak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582558" y="2240280"/>
            <a:ext cx="1689811" cy="457200"/>
          </a:xfrm>
          <a:prstGeom prst="roundRect">
            <a:avLst>
              <a:gd name="adj" fmla="val 50000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/>
          <p:nvPr/>
        </p:nvSpPr>
        <p:spPr>
          <a:xfrm>
            <a:off x="8582558" y="224028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Newrez Wholesale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Target-5 shortlist · DU + LPA channels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STATUS — TRACKED END TO END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1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933" y="3959352"/>
            <a:ext cx="164592" cy="16459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2504389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21" name="Text 18"/>
          <p:cNvSpPr/>
          <p:nvPr/>
        </p:nvSpPr>
        <p:spPr>
          <a:xfrm>
            <a:off x="2550109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Acknowledged</a:t>
            </a:r>
            <a:endParaRPr lang="en-US" sz="11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242" y="3959352"/>
            <a:ext cx="164592" cy="164592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4368698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24" name="Text 20"/>
          <p:cNvSpPr/>
          <p:nvPr/>
        </p:nvSpPr>
        <p:spPr>
          <a:xfrm>
            <a:off x="4414418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underwriting</a:t>
            </a:r>
            <a:endParaRPr lang="en-US" sz="11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3552" y="3959352"/>
            <a:ext cx="164592" cy="16459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233008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27" name="Text 22"/>
          <p:cNvSpPr/>
          <p:nvPr/>
        </p:nvSpPr>
        <p:spPr>
          <a:xfrm>
            <a:off x="6278728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</a:t>
            </a:r>
            <a:endParaRPr lang="en-US" sz="11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7861" y="3959352"/>
            <a:ext cx="164592" cy="164592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097317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30" name="Text 24"/>
          <p:cNvSpPr/>
          <p:nvPr/>
        </p:nvSpPr>
        <p:spPr>
          <a:xfrm>
            <a:off x="8143037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to close</a:t>
            </a:r>
            <a:endParaRPr lang="en-US" sz="115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2170" y="3959352"/>
            <a:ext cx="164592" cy="16459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9961626" y="3703320"/>
            <a:ext cx="1589989" cy="685800"/>
          </a:xfrm>
          <a:prstGeom prst="roundRect">
            <a:avLst>
              <a:gd name="adj" fmla="val 12000"/>
            </a:avLst>
          </a:prstGeom>
          <a:solidFill>
            <a:srgbClr val="0B7A5E"/>
          </a:solidFill>
          <a:ln/>
        </p:spPr>
      </p:sp>
      <p:sp>
        <p:nvSpPr>
          <p:cNvPr id="33" name="Text 26"/>
          <p:cNvSpPr/>
          <p:nvPr/>
        </p:nvSpPr>
        <p:spPr>
          <a:xfrm>
            <a:off x="10007346" y="3703320"/>
            <a:ext cx="14985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0F1729"/>
          </a:solidFill>
          <a:ln/>
        </p:spPr>
      </p:sp>
      <p:sp>
        <p:nvSpPr>
          <p:cNvPr id="35" name="Shape 28"/>
          <p:cNvSpPr/>
          <p:nvPr/>
        </p:nvSpPr>
        <p:spPr>
          <a:xfrm>
            <a:off x="896112" y="489204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930" y="5032858"/>
            <a:ext cx="221285" cy="221285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600200" y="470916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Readiness-gated.  </a:t>
            </a:r>
            <a:pPr indent="0" marL="0">
              <a:buNone/>
            </a:pPr>
            <a:r>
              <a:rPr lang="en-US" sz="130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 carries a snapshot of what we believed about the file at the moment we sent it — a built-in audit trail for both sides.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640080" y="5715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shortlist is business-development data; the submission adapter is a deterministic simulation until a signed broker agreement exists.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 — REAL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borrower experience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710178"/>
          </a:xfrm>
          <a:prstGeom prst="roundRect">
            <a:avLst>
              <a:gd name="adj" fmla="val 1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1907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6" name="Shape 4"/>
          <p:cNvSpPr/>
          <p:nvPr/>
        </p:nvSpPr>
        <p:spPr>
          <a:xfrm>
            <a:off x="886968" y="171907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1907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8" name="Image 0" descr="/Users/ammrebarakat/Developer/MortgageStream/demo/lender-demo/screenshots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11096"/>
            <a:ext cx="5175504" cy="32346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536524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funnel + free decision tools — consented borrowers, captured early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09360" y="1600200"/>
            <a:ext cx="5394960" cy="3710178"/>
          </a:xfrm>
          <a:prstGeom prst="roundRect">
            <a:avLst>
              <a:gd name="adj" fmla="val 1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171907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2" name="Shape 9"/>
          <p:cNvSpPr/>
          <p:nvPr/>
        </p:nvSpPr>
        <p:spPr>
          <a:xfrm>
            <a:off x="6647688" y="171907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Shape 10"/>
          <p:cNvSpPr/>
          <p:nvPr/>
        </p:nvSpPr>
        <p:spPr>
          <a:xfrm>
            <a:off x="6803136" y="171907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14" name="Image 1" descr="/Users/ammrebarakat/Developer/MortgageStream/demo/lender-demo/screenshots/07-loan-o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911096"/>
            <a:ext cx="5175504" cy="323469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09360" y="536524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deterministic pre-approval read — with the Reg Z anti-steering disclosure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 — REAL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broker's desk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710178"/>
          </a:xfrm>
          <a:prstGeom prst="roundRect">
            <a:avLst>
              <a:gd name="adj" fmla="val 1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1907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6" name="Shape 4"/>
          <p:cNvSpPr/>
          <p:nvPr/>
        </p:nvSpPr>
        <p:spPr>
          <a:xfrm>
            <a:off x="886968" y="171907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1907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8" name="Image 0" descr="/Users/ammrebarakat/Developer/MortgageStream/demo/lender-demo/screenshots/08-lo-command-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11096"/>
            <a:ext cx="5175504" cy="32346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536524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No-Stall pipeline — one-click Export MISMO, submit to lender, lock the rate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09360" y="1600200"/>
            <a:ext cx="5394960" cy="3710178"/>
          </a:xfrm>
          <a:prstGeom prst="roundRect">
            <a:avLst>
              <a:gd name="adj" fmla="val 17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1719072"/>
            <a:ext cx="82296" cy="82296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2" name="Shape 9"/>
          <p:cNvSpPr/>
          <p:nvPr/>
        </p:nvSpPr>
        <p:spPr>
          <a:xfrm>
            <a:off x="6647688" y="171907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Shape 10"/>
          <p:cNvSpPr/>
          <p:nvPr/>
        </p:nvSpPr>
        <p:spPr>
          <a:xfrm>
            <a:off x="6803136" y="1719072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pic>
        <p:nvPicPr>
          <p:cNvPr id="14" name="Image 1" descr="/Users/ammrebarakat/Developer/MortgageStream/demo/lender-demo/screenshots/10-borrower-file-d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911096"/>
            <a:ext cx="5175504" cy="323469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09360" y="536524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lender-ready file — MISMO 3.4 export, SSN vaulted (last-4), LTV/DTI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TO YOU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reasons a lender says yes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3749040"/>
          </a:xfrm>
          <a:prstGeom prst="roundRect">
            <a:avLst>
              <a:gd name="adj" fmla="val 3773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9549" y="2377440"/>
            <a:ext cx="914400" cy="91440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5581" y="263347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520440"/>
            <a:ext cx="3393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files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60120" y="411480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Standards-valid, pre-flighted packages underwrite faster and bounce less — lower cost per loan, higher pull-through.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99178" y="1920240"/>
            <a:ext cx="3393338" cy="3749040"/>
          </a:xfrm>
          <a:prstGeom prst="roundRect">
            <a:avLst>
              <a:gd name="adj" fmla="val 3773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38648" y="2377440"/>
            <a:ext cx="914400" cy="91440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680" y="263347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399178" y="3520440"/>
            <a:ext cx="3393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719218" y="411480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purpose-built funnel feeds you a steady flow of qualified, consented borrowers you didn't have to source.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58277" y="1920240"/>
            <a:ext cx="3393338" cy="3749040"/>
          </a:xfrm>
          <a:prstGeom prst="roundRect">
            <a:avLst>
              <a:gd name="adj" fmla="val 3773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397746" y="2377440"/>
            <a:ext cx="914400" cy="91440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3778" y="26334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58277" y="3520440"/>
            <a:ext cx="3393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Velocity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478317" y="411480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Certainty and speed compress the path from intake to submission — less fallout, faster funding.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compliance-first, not bolted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302" y="2008022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73736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engine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08760" y="209397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decisions; no AI in the lending decision, ever.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324448" y="1828800"/>
            <a:ext cx="640080" cy="64008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70" y="200802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93128" y="173736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through a vault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193128" y="209397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SSNs stored as ciphertext + last-4, decrypted only at the delivery seam.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291840"/>
            <a:ext cx="640080" cy="64008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" y="347106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20040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everywhere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508760" y="355701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PII touch and file action is recorded for the record.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324448" y="3291840"/>
            <a:ext cx="640080" cy="64008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3670" y="3471062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193128" y="320040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Fannie-Mae-grounded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7193128" y="355701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MISMO/ULDD terms verified against the official spec — never invented.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40080" y="4754880"/>
            <a:ext cx="640080" cy="64008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" y="4934102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508760" y="466344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NMLS identity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508760" y="502005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identifier prints on the package the day licensing lands.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6324448" y="4754880"/>
            <a:ext cx="640080" cy="64008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670" y="4934102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93128" y="4663440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makes no promises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7193128" y="5020056"/>
            <a:ext cx="4267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validation language — no approval or eligibility claims.</a:t>
            </a:r>
            <a:endParaRPr lang="en-US" sz="12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989320"/>
            <a:ext cx="256032" cy="25603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50976" y="5971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Veteran-founded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and validated today — live on credentialing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3977640"/>
          </a:xfrm>
          <a:prstGeom prst="roundRect">
            <a:avLst>
              <a:gd name="adj" fmla="val 2759"/>
            </a:avLst>
          </a:prstGeom>
          <a:solidFill>
            <a:srgbClr val="E9F6F0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548640" cy="548640"/>
          </a:xfrm>
          <a:prstGeom prst="ellipse">
            <a:avLst/>
          </a:prstGeom>
          <a:solidFill>
            <a:srgbClr val="0B7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739" y="22567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031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 to end now</a:t>
            </a:r>
            <a:endParaRPr lang="en-US" sz="17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944368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53312" y="29260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intake → decision → package → delivery loop</a:t>
            </a:r>
            <a:endParaRPr lang="en-US" sz="13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493008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53312" y="34747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3.4 / ULDD-valid export</a:t>
            </a:r>
            <a:endParaRPr lang="en-US" sz="13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041648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353312" y="40233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underwriting + dual-AUS legs</a:t>
            </a:r>
            <a:endParaRPr lang="en-US" sz="13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590288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353312" y="45720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engines (QM, SFC, edit mirror)</a:t>
            </a:r>
            <a:endParaRPr lang="en-US" sz="13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5138928"/>
            <a:ext cx="201168" cy="20116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353312" y="5120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call runs behind a production adapter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6355080" y="1783080"/>
            <a:ext cx="5166360" cy="3977640"/>
          </a:xfrm>
          <a:prstGeom prst="roundRect">
            <a:avLst>
              <a:gd name="adj" fmla="val 2759"/>
            </a:avLst>
          </a:prstGeom>
          <a:solidFill>
            <a:srgbClr val="EEF2FB"/>
          </a:solidFill>
          <a:ln/>
          <a:effectLst>
            <a:outerShdw sx="100000" sy="100000" kx="0" ky="0" algn="bl" rotWithShape="0" blurRad="88900" dist="38100" dir="5400000">
              <a:srgbClr val="9AA6B8">
                <a:alpha val="28000"/>
              </a:srgbClr>
            </a:outerShdw>
          </a:effectLst>
        </p:spPr>
      </p:sp>
      <p:sp>
        <p:nvSpPr>
          <p:cNvPr id="19" name="Shape 11"/>
          <p:cNvSpPr/>
          <p:nvPr/>
        </p:nvSpPr>
        <p:spPr>
          <a:xfrm>
            <a:off x="6675120" y="2103120"/>
            <a:ext cx="548640" cy="548640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8739" y="2256739"/>
            <a:ext cx="241402" cy="241402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7360920" y="2103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live</a:t>
            </a:r>
            <a:endParaRPr lang="en-US" sz="17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2944368"/>
            <a:ext cx="201168" cy="20116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7068312" y="2926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NMLS licensing — in progress (the long-lead item)</a:t>
            </a:r>
            <a:endParaRPr lang="en-US" sz="13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3511296"/>
            <a:ext cx="201168" cy="20116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7068312" y="34930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broker agreement with your channel</a:t>
            </a:r>
            <a:endParaRPr lang="en-US" sz="130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4078224"/>
            <a:ext cx="201168" cy="201168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7068312" y="405993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adapter swap per vendor (credit, DU/LPA, AVM)</a:t>
            </a:r>
            <a:endParaRPr lang="en-US" sz="1300" dirty="0"/>
          </a:p>
        </p:txBody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20840" y="4645152"/>
            <a:ext cx="201168" cy="201168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7068312" y="462686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keys (email, storage) — a day of setup</a:t>
            </a:r>
            <a:endParaRPr lang="en-US" sz="1300" dirty="0"/>
          </a:p>
        </p:txBody>
      </p:sp>
      <p:sp>
        <p:nvSpPr>
          <p:cNvPr id="30" name="Text 17"/>
          <p:cNvSpPr/>
          <p:nvPr/>
        </p:nvSpPr>
        <p:spPr>
          <a:xfrm>
            <a:off x="6675120" y="52578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seam is already in place — going live is configuration, not a rebuild.</a:t>
            </a:r>
            <a:endParaRPr lang="en-US" sz="1200" dirty="0"/>
          </a:p>
        </p:txBody>
      </p:sp>
      <p:sp>
        <p:nvSpPr>
          <p:cNvPr id="31" name="Text 18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32" name="Text 19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4023360" cy="4023360"/>
          </a:xfrm>
          <a:prstGeom prst="ellipse">
            <a:avLst/>
          </a:prstGeom>
          <a:solidFill>
            <a:srgbClr val="1C3A8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188720"/>
            <a:ext cx="3108960" cy="3108960"/>
          </a:xfrm>
          <a:prstGeom prst="ellipse">
            <a:avLst/>
          </a:prstGeom>
          <a:solidFill>
            <a:srgbClr val="10B981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Credential us on your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TPO channel.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D5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built and validated. We're completing licensing now. Let's set up a live pilot the day it clears — and prove first-pass, standards-valid delivery on real files.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4709160"/>
            <a:ext cx="7680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89204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Corporation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[Founder name — TODO]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support@homiquity.com  ·  [phone — TODO]  ·  homiquity.com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NMLS # prints here once issued.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5029200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40496" y="50109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Veteran-founded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0" y="5577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for prospective wholesale-lender partners.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the hood — architecture &amp; compliance base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00253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611" y="2151035"/>
            <a:ext cx="233355" cy="2333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9280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architecture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846320" y="189280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vendor (credit, DU/LPA, AVM, lender submission) sits behind one adapter function — a single, tested seam that flips from simulation to live per contract.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88036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09981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611" y="3248315"/>
            <a:ext cx="233355" cy="23335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9900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core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846320" y="299008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underwriting engine is pure and vendor-free: same inputs, same outcome, with typed error classification.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97764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896112" y="419709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11" y="4345595"/>
            <a:ext cx="233355" cy="23335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0873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Fannie Mae reference base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846320" y="408736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3.4 / ULDD Phase 5, UCD, Special Feature Codes and edit codes are grounded in the official spec set — terminology is verified, never invented.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507492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sp>
        <p:nvSpPr>
          <p:cNvPr id="20" name="Shape 15"/>
          <p:cNvSpPr/>
          <p:nvPr/>
        </p:nvSpPr>
        <p:spPr>
          <a:xfrm>
            <a:off x="896112" y="5294376"/>
            <a:ext cx="530352" cy="530352"/>
          </a:xfrm>
          <a:prstGeom prst="ellipse">
            <a:avLst/>
          </a:prstGeom>
          <a:solidFill>
            <a:srgbClr val="1C3A8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611" y="5442875"/>
            <a:ext cx="233355" cy="23335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1846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NMLS reference base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4846320" y="518464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logic is grounded in the NMLS Policy Guidebook and SAFE-Act mapping — state law controls, discrepancies escalate.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C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Homiquity Mortgage Corp.</a:t>
            </a:r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for prospective wholesale-lender partners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Homiquity Mortgage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Homiquity — Lender Demo</dc:title>
  <dc:subject>PptxGenJS Presentation</dc:subject>
  <dc:creator>Homiquity Mortgage Corporation</dc:creator>
  <cp:lastModifiedBy>Homiquity Mortgage Corporation</cp:lastModifiedBy>
  <cp:revision>1</cp:revision>
  <dcterms:created xsi:type="dcterms:W3CDTF">2026-07-11T14:54:11Z</dcterms:created>
  <dcterms:modified xsi:type="dcterms:W3CDTF">2026-07-11T14:54:11Z</dcterms:modified>
</cp:coreProperties>
</file>