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A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1C3A8F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57200"/>
            <a:ext cx="1828800" cy="1828800"/>
          </a:xfrm>
          <a:prstGeom prst="ellipse">
            <a:avLst/>
          </a:prstGeom>
          <a:solidFill>
            <a:srgbClr val="10B981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HOMIQUITY  ·  MORTGAGE CORPORATION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424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digital mortgage brokerage that</a:t>
            </a:r>
            <a:endParaRPr lang="en-US" sz="4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delivers lender-ready files.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379476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Certainty and speed</a:t>
            </a:r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D5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complete, standards-valid MISMO 3.4 package,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D5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decision-ready on the first pass.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5806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Wholesale-partner briefing  ·  NMLS licensing in progress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199632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50976" y="618134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Veteran-founded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file is a mess — so everyone pays for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40080" cy="640080"/>
          </a:xfrm>
          <a:prstGeom prst="ellipse">
            <a:avLst/>
          </a:prstGeom>
          <a:solidFill>
            <a:srgbClr val="EEF2F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302" y="1870862"/>
            <a:ext cx="281635" cy="28163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655064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borrower waits, blind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508760" y="201168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pass with no idea where they stand — anxiety, drop-off, and lost deals.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3108960"/>
            <a:ext cx="640080" cy="640080"/>
          </a:xfrm>
          <a:prstGeom prst="ellipse">
            <a:avLst/>
          </a:prstGeom>
          <a:solidFill>
            <a:srgbClr val="EEF2F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302" y="3288182"/>
            <a:ext cx="281635" cy="28163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3072384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lender gets a disorganized packet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508760" y="342900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Incomplete, non-standard files get bounced back for what's missing — twice.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40080" y="4526280"/>
            <a:ext cx="640080" cy="640080"/>
          </a:xfrm>
          <a:prstGeom prst="ellipse">
            <a:avLst/>
          </a:prstGeom>
          <a:solidFill>
            <a:srgbClr val="EEF2F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302" y="4705502"/>
            <a:ext cx="281635" cy="28163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4489704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re-keys the same data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1508760" y="484632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numbers are re-entered by hand at every hand-off, adding errors and delay.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7772400" y="1783080"/>
            <a:ext cx="3749040" cy="4023360"/>
          </a:xfrm>
          <a:prstGeom prst="roundRect">
            <a:avLst>
              <a:gd name="adj" fmla="val 3415"/>
            </a:avLst>
          </a:prstGeom>
          <a:solidFill>
            <a:srgbClr val="E9F6F0"/>
          </a:solidFill>
          <a:ln/>
          <a:effectLst>
            <a:outerShdw sx="100000" sy="100000" kx="0" ky="0" algn="bl" rotWithShape="0" blurRad="88900" dist="38100" dir="5400000">
              <a:srgbClr val="9AA6B8">
                <a:alpha val="2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092440" y="2148840"/>
            <a:ext cx="822960" cy="822960"/>
          </a:xfrm>
          <a:prstGeom prst="ellipse">
            <a:avLst/>
          </a:prstGeom>
          <a:solidFill>
            <a:srgbClr val="0B7A5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2869" y="2379269"/>
            <a:ext cx="362102" cy="36210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092440" y="3108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Homiquity's fix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8092440" y="3429000"/>
            <a:ext cx="3154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0F17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 a borrower's raw inputs into one organized, lender-ready package — fast, honest, and compliant — and deliver it straight to a wholesale lender.</a:t>
            </a:r>
            <a:endParaRPr lang="en-US" sz="1700" dirty="0"/>
          </a:p>
        </p:txBody>
      </p:sp>
      <p:sp>
        <p:nvSpPr>
          <p:cNvPr id="21" name="Text 15"/>
          <p:cNvSpPr/>
          <p:nvPr/>
        </p:nvSpPr>
        <p:spPr>
          <a:xfrm>
            <a:off x="640080" y="64739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Homiquity Mortgage Corp.</a:t>
            </a:r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Confidential — for prospective wholesale-lender partners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18585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mortgage broker — the loop is borrower ↔ lender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377440"/>
            <a:ext cx="2834640" cy="1554480"/>
          </a:xfrm>
          <a:prstGeom prst="roundRect">
            <a:avLst>
              <a:gd name="adj" fmla="val 7059"/>
            </a:avLst>
          </a:prstGeom>
          <a:solidFill>
            <a:srgbClr val="EEF2FB"/>
          </a:solidFill>
          <a:ln/>
          <a:effectLst>
            <a:outerShdw sx="100000" sy="100000" kx="0" ky="0" algn="bl" rotWithShape="0" blurRad="88900" dist="38100" dir="5400000">
              <a:srgbClr val="9AA6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2670048"/>
            <a:ext cx="685800" cy="685800"/>
          </a:xfrm>
          <a:prstGeom prst="ellipse">
            <a:avLst/>
          </a:prstGeom>
          <a:solidFill>
            <a:srgbClr val="1C3A8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5024" y="2862072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2670048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Borrower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43000" y="331012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Applies, uploads,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coached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617720" y="2377440"/>
            <a:ext cx="2834640" cy="1554480"/>
          </a:xfrm>
          <a:prstGeom prst="roundRect">
            <a:avLst>
              <a:gd name="adj" fmla="val 7059"/>
            </a:avLst>
          </a:prstGeom>
          <a:solidFill>
            <a:srgbClr val="E9F6F0"/>
          </a:solidFill>
          <a:ln/>
          <a:effectLst>
            <a:outerShdw sx="100000" sy="100000" kx="0" ky="0" algn="bl" rotWithShape="0" blurRad="88900" dist="38100" dir="5400000">
              <a:srgbClr val="9AA6B8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37760" y="2670048"/>
            <a:ext cx="685800" cy="685800"/>
          </a:xfrm>
          <a:prstGeom prst="ellipse">
            <a:avLst/>
          </a:prstGeom>
          <a:solidFill>
            <a:srgbClr val="0B7A5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9784" y="2862072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715000" y="2670048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Homiquity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937760" y="331012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Organizes, validates,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packages, delivers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412480" y="2377440"/>
            <a:ext cx="2834640" cy="1554480"/>
          </a:xfrm>
          <a:prstGeom prst="roundRect">
            <a:avLst>
              <a:gd name="adj" fmla="val 7059"/>
            </a:avLst>
          </a:prstGeom>
          <a:solidFill>
            <a:srgbClr val="EEF2FB"/>
          </a:solidFill>
          <a:ln/>
          <a:effectLst>
            <a:outerShdw sx="100000" sy="100000" kx="0" ky="0" algn="bl" rotWithShape="0" blurRad="88900" dist="38100" dir="5400000">
              <a:srgbClr val="9AA6B8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732520" y="2670048"/>
            <a:ext cx="685800" cy="685800"/>
          </a:xfrm>
          <a:prstGeom prst="ellipse">
            <a:avLst/>
          </a:prstGeom>
          <a:solidFill>
            <a:srgbClr val="1C3A8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544" y="2862072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509760" y="2670048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Wholesale lender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732520" y="331012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Underwrites, closes,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</a:t>
            </a:r>
            <a:endParaRPr lang="en-US" sz="125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0" y="2926080"/>
            <a:ext cx="457200" cy="457200"/>
          </a:xfrm>
          <a:prstGeom prst="rect">
            <a:avLst/>
          </a:prstGeom>
        </p:spPr>
      </p:pic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5240" y="2926080"/>
            <a:ext cx="457200" cy="4572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40080" y="457200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0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sentence:  </a:t>
            </a:r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borrower completes intake → gets an instant, deterministic pre-approval read → their file becomes a standards-valid MISMO package → we deliver it to a wholesale lender.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640080" y="553212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Agents, listings, and homeowner tools feed or extend the loop — they never sit on the critical path to a funded loan.</a:t>
            </a:r>
            <a:endParaRPr lang="en-US" sz="1250" dirty="0"/>
          </a:p>
        </p:txBody>
      </p:sp>
      <p:sp>
        <p:nvSpPr>
          <p:cNvPr id="23" name="Text 16"/>
          <p:cNvSpPr/>
          <p:nvPr/>
        </p:nvSpPr>
        <p:spPr>
          <a:xfrm>
            <a:off x="640080" y="64739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Homiquity Mortgage Corp.</a:t>
            </a:r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Confidential — for prospective wholesale-lender partners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1118585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lead to a funded-ready package — end to end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498549" cy="2286000"/>
          </a:xfrm>
          <a:prstGeom prst="roundRect">
            <a:avLst>
              <a:gd name="adj" fmla="val 6102"/>
            </a:avLst>
          </a:prstGeom>
          <a:solidFill>
            <a:srgbClr val="EEF2FB"/>
          </a:solidFill>
          <a:ln/>
          <a:effectLst>
            <a:outerShdw sx="100000" sy="100000" kx="0" ky="0" algn="bl" rotWithShape="0" blurRad="88900" dist="38100" dir="5400000">
              <a:srgbClr val="9AA6B8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0756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3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23595" y="2514600"/>
            <a:ext cx="731520" cy="731520"/>
          </a:xfrm>
          <a:prstGeom prst="ellipse">
            <a:avLst/>
          </a:prstGeom>
          <a:solidFill>
            <a:srgbClr val="1C3A8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8420" y="2719426"/>
            <a:ext cx="321869" cy="32186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337560"/>
            <a:ext cx="149854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85800" y="3657600"/>
            <a:ext cx="140710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funnel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SEO</a:t>
            </a:r>
            <a:endParaRPr lang="en-US" sz="11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0069" y="3008376"/>
            <a:ext cx="201168" cy="20116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522677" y="1965960"/>
            <a:ext cx="1498549" cy="2286000"/>
          </a:xfrm>
          <a:prstGeom prst="roundRect">
            <a:avLst>
              <a:gd name="adj" fmla="val 6102"/>
            </a:avLst>
          </a:prstGeom>
          <a:solidFill>
            <a:srgbClr val="E9F6F0"/>
          </a:solidFill>
          <a:ln/>
          <a:effectLst>
            <a:outerShdw sx="100000" sy="100000" kx="0" ky="0" algn="bl" rotWithShape="0" blurRad="88900" dist="38100" dir="5400000">
              <a:srgbClr val="9AA6B8">
                <a:alpha val="28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2659837" y="20756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7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2906192" y="2514600"/>
            <a:ext cx="731520" cy="731520"/>
          </a:xfrm>
          <a:prstGeom prst="ellipse">
            <a:avLst/>
          </a:prstGeom>
          <a:solidFill>
            <a:srgbClr val="0B7A5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1017" y="2719426"/>
            <a:ext cx="321869" cy="3218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522677" y="3337560"/>
            <a:ext cx="149854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2568397" y="3657600"/>
            <a:ext cx="140710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Consented URLA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TRID clock</a:t>
            </a:r>
            <a:endParaRPr lang="en-US" sz="11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2666" y="3008376"/>
            <a:ext cx="201168" cy="20116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4405274" y="1965960"/>
            <a:ext cx="1498549" cy="2286000"/>
          </a:xfrm>
          <a:prstGeom prst="roundRect">
            <a:avLst>
              <a:gd name="adj" fmla="val 6102"/>
            </a:avLst>
          </a:prstGeom>
          <a:solidFill>
            <a:srgbClr val="EEF2FB"/>
          </a:solidFill>
          <a:ln/>
          <a:effectLst>
            <a:outerShdw sx="100000" sy="100000" kx="0" ky="0" algn="bl" rotWithShape="0" blurRad="88900" dist="38100" dir="5400000">
              <a:srgbClr val="9AA6B8">
                <a:alpha val="28000"/>
              </a:srgbClr>
            </a:outerShdw>
          </a:effectLst>
        </p:spPr>
      </p:sp>
      <p:sp>
        <p:nvSpPr>
          <p:cNvPr id="19" name="Text 13"/>
          <p:cNvSpPr/>
          <p:nvPr/>
        </p:nvSpPr>
        <p:spPr>
          <a:xfrm>
            <a:off x="4542434" y="20756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3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Shape 14"/>
          <p:cNvSpPr/>
          <p:nvPr/>
        </p:nvSpPr>
        <p:spPr>
          <a:xfrm>
            <a:off x="4788789" y="2514600"/>
            <a:ext cx="731520" cy="731520"/>
          </a:xfrm>
          <a:prstGeom prst="ellipse">
            <a:avLst/>
          </a:prstGeom>
          <a:solidFill>
            <a:srgbClr val="1C3A8F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3615" y="2719426"/>
            <a:ext cx="321869" cy="32186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405274" y="3337560"/>
            <a:ext cx="149854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4450994" y="3657600"/>
            <a:ext cx="140710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pre-approval</a:t>
            </a:r>
            <a:endParaRPr lang="en-US" sz="11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5264" y="3008376"/>
            <a:ext cx="201168" cy="201168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6287872" y="1965960"/>
            <a:ext cx="1498549" cy="2286000"/>
          </a:xfrm>
          <a:prstGeom prst="roundRect">
            <a:avLst>
              <a:gd name="adj" fmla="val 6102"/>
            </a:avLst>
          </a:prstGeom>
          <a:solidFill>
            <a:srgbClr val="E9F6F0"/>
          </a:solidFill>
          <a:ln/>
          <a:effectLst>
            <a:outerShdw sx="100000" sy="100000" kx="0" ky="0" algn="bl" rotWithShape="0" blurRad="88900" dist="38100" dir="5400000">
              <a:srgbClr val="9AA6B8">
                <a:alpha val="28000"/>
              </a:srgbClr>
            </a:outerShdw>
          </a:effectLst>
        </p:spPr>
      </p:sp>
      <p:sp>
        <p:nvSpPr>
          <p:cNvPr id="26" name="Text 18"/>
          <p:cNvSpPr/>
          <p:nvPr/>
        </p:nvSpPr>
        <p:spPr>
          <a:xfrm>
            <a:off x="6425032" y="20756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7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Shape 19"/>
          <p:cNvSpPr/>
          <p:nvPr/>
        </p:nvSpPr>
        <p:spPr>
          <a:xfrm>
            <a:off x="6671386" y="2514600"/>
            <a:ext cx="731520" cy="731520"/>
          </a:xfrm>
          <a:prstGeom prst="ellipse">
            <a:avLst/>
          </a:prstGeom>
          <a:solidFill>
            <a:srgbClr val="0B7A5E"/>
          </a:solidFill>
          <a:ln/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76212" y="2719426"/>
            <a:ext cx="321869" cy="321869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287872" y="3337560"/>
            <a:ext cx="149854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</a:t>
            </a:r>
            <a:endParaRPr lang="en-US" sz="1500" dirty="0"/>
          </a:p>
        </p:txBody>
      </p:sp>
      <p:sp>
        <p:nvSpPr>
          <p:cNvPr id="30" name="Text 21"/>
          <p:cNvSpPr/>
          <p:nvPr/>
        </p:nvSpPr>
        <p:spPr>
          <a:xfrm>
            <a:off x="6333592" y="3657600"/>
            <a:ext cx="140710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3.4 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ULDD valid</a:t>
            </a:r>
            <a:endParaRPr lang="en-US" sz="110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77861" y="3008376"/>
            <a:ext cx="201168" cy="201168"/>
          </a:xfrm>
          <a:prstGeom prst="rect">
            <a:avLst/>
          </a:prstGeom>
        </p:spPr>
      </p:pic>
      <p:sp>
        <p:nvSpPr>
          <p:cNvPr id="32" name="Shape 22"/>
          <p:cNvSpPr/>
          <p:nvPr/>
        </p:nvSpPr>
        <p:spPr>
          <a:xfrm>
            <a:off x="8170469" y="1965960"/>
            <a:ext cx="1498549" cy="2286000"/>
          </a:xfrm>
          <a:prstGeom prst="roundRect">
            <a:avLst>
              <a:gd name="adj" fmla="val 6102"/>
            </a:avLst>
          </a:prstGeom>
          <a:solidFill>
            <a:srgbClr val="EEF2FB"/>
          </a:solidFill>
          <a:ln/>
          <a:effectLst>
            <a:outerShdw sx="100000" sy="100000" kx="0" ky="0" algn="bl" rotWithShape="0" blurRad="88900" dist="38100" dir="5400000">
              <a:srgbClr val="9AA6B8">
                <a:alpha val="28000"/>
              </a:srgbClr>
            </a:outerShdw>
          </a:effectLst>
        </p:spPr>
      </p:sp>
      <p:sp>
        <p:nvSpPr>
          <p:cNvPr id="33" name="Text 23"/>
          <p:cNvSpPr/>
          <p:nvPr/>
        </p:nvSpPr>
        <p:spPr>
          <a:xfrm>
            <a:off x="8307629" y="20756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3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4" name="Shape 24"/>
          <p:cNvSpPr/>
          <p:nvPr/>
        </p:nvSpPr>
        <p:spPr>
          <a:xfrm>
            <a:off x="8553983" y="2514600"/>
            <a:ext cx="731520" cy="731520"/>
          </a:xfrm>
          <a:prstGeom prst="ellipse">
            <a:avLst/>
          </a:prstGeom>
          <a:solidFill>
            <a:srgbClr val="1C3A8F"/>
          </a:solidFill>
          <a:ln/>
        </p:spPr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58809" y="2719426"/>
            <a:ext cx="321869" cy="321869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8170469" y="3337560"/>
            <a:ext cx="149854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AUS</a:t>
            </a:r>
            <a:endParaRPr lang="en-US" sz="1500" dirty="0"/>
          </a:p>
        </p:txBody>
      </p:sp>
      <p:sp>
        <p:nvSpPr>
          <p:cNvPr id="37" name="Text 26"/>
          <p:cNvSpPr/>
          <p:nvPr/>
        </p:nvSpPr>
        <p:spPr>
          <a:xfrm>
            <a:off x="8216189" y="3657600"/>
            <a:ext cx="140710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+ LPA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100" dirty="0"/>
          </a:p>
        </p:txBody>
      </p:sp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60458" y="3008376"/>
            <a:ext cx="201168" cy="201168"/>
          </a:xfrm>
          <a:prstGeom prst="rect">
            <a:avLst/>
          </a:prstGeom>
        </p:spPr>
      </p:pic>
      <p:sp>
        <p:nvSpPr>
          <p:cNvPr id="39" name="Shape 27"/>
          <p:cNvSpPr/>
          <p:nvPr/>
        </p:nvSpPr>
        <p:spPr>
          <a:xfrm>
            <a:off x="10053066" y="1965960"/>
            <a:ext cx="1498549" cy="2286000"/>
          </a:xfrm>
          <a:prstGeom prst="roundRect">
            <a:avLst>
              <a:gd name="adj" fmla="val 6102"/>
            </a:avLst>
          </a:prstGeom>
          <a:solidFill>
            <a:srgbClr val="E9F6F0"/>
          </a:solidFill>
          <a:ln/>
          <a:effectLst>
            <a:outerShdw sx="100000" sy="100000" kx="0" ky="0" algn="bl" rotWithShape="0" blurRad="88900" dist="38100" dir="5400000">
              <a:srgbClr val="9AA6B8">
                <a:alpha val="28000"/>
              </a:srgbClr>
            </a:outerShdw>
          </a:effectLst>
        </p:spPr>
      </p:sp>
      <p:sp>
        <p:nvSpPr>
          <p:cNvPr id="40" name="Text 28"/>
          <p:cNvSpPr/>
          <p:nvPr/>
        </p:nvSpPr>
        <p:spPr>
          <a:xfrm>
            <a:off x="10190226" y="20756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7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41" name="Shape 29"/>
          <p:cNvSpPr/>
          <p:nvPr/>
        </p:nvSpPr>
        <p:spPr>
          <a:xfrm>
            <a:off x="10436581" y="2514600"/>
            <a:ext cx="731520" cy="731520"/>
          </a:xfrm>
          <a:prstGeom prst="ellipse">
            <a:avLst/>
          </a:prstGeom>
          <a:solidFill>
            <a:srgbClr val="0B7A5E"/>
          </a:solidFill>
          <a:ln/>
        </p:spPr>
      </p:sp>
      <p:pic>
        <p:nvPicPr>
          <p:cNvPr id="4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41406" y="2719426"/>
            <a:ext cx="321869" cy="321869"/>
          </a:xfrm>
          <a:prstGeom prst="rect">
            <a:avLst/>
          </a:prstGeom>
        </p:spPr>
      </p:pic>
      <p:sp>
        <p:nvSpPr>
          <p:cNvPr id="43" name="Text 30"/>
          <p:cNvSpPr/>
          <p:nvPr/>
        </p:nvSpPr>
        <p:spPr>
          <a:xfrm>
            <a:off x="10053066" y="3337560"/>
            <a:ext cx="149854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500" dirty="0"/>
          </a:p>
        </p:txBody>
      </p:sp>
      <p:sp>
        <p:nvSpPr>
          <p:cNvPr id="44" name="Text 31"/>
          <p:cNvSpPr/>
          <p:nvPr/>
        </p:nvSpPr>
        <p:spPr>
          <a:xfrm>
            <a:off x="10098786" y="3657600"/>
            <a:ext cx="140710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wholesale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lender</a:t>
            </a:r>
            <a:endParaRPr lang="en-US" sz="1100" dirty="0"/>
          </a:p>
        </p:txBody>
      </p:sp>
      <p:sp>
        <p:nvSpPr>
          <p:cNvPr id="45" name="Shape 32"/>
          <p:cNvSpPr/>
          <p:nvPr/>
        </p:nvSpPr>
        <p:spPr>
          <a:xfrm>
            <a:off x="640080" y="4709160"/>
            <a:ext cx="10911535" cy="868680"/>
          </a:xfrm>
          <a:prstGeom prst="roundRect">
            <a:avLst>
              <a:gd name="adj" fmla="val 10526"/>
            </a:avLst>
          </a:prstGeom>
          <a:solidFill>
            <a:srgbClr val="0F1729"/>
          </a:solidFill>
          <a:ln/>
        </p:spPr>
      </p:sp>
      <p:sp>
        <p:nvSpPr>
          <p:cNvPr id="46" name="Shape 33"/>
          <p:cNvSpPr/>
          <p:nvPr/>
        </p:nvSpPr>
        <p:spPr>
          <a:xfrm>
            <a:off x="896112" y="4892040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4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36930" y="5032858"/>
            <a:ext cx="221285" cy="221285"/>
          </a:xfrm>
          <a:prstGeom prst="rect">
            <a:avLst/>
          </a:prstGeom>
        </p:spPr>
      </p:pic>
      <p:sp>
        <p:nvSpPr>
          <p:cNvPr id="48" name="Text 34"/>
          <p:cNvSpPr/>
          <p:nvPr/>
        </p:nvSpPr>
        <p:spPr>
          <a:xfrm>
            <a:off x="1600200" y="4709160"/>
            <a:ext cx="97228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+ audited end to end.  </a:t>
            </a:r>
            <a:pPr indent="0" marL="0">
              <a:buNone/>
            </a:pPr>
            <a:r>
              <a:rPr lang="en-US" sz="1350" dirty="0">
                <a:solidFill>
                  <a:srgbClr val="E6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is blocked until intake, AUS, and the lender package are clean — and every step is captured for the record.</a:t>
            </a:r>
            <a:endParaRPr lang="en-US" sz="1350" dirty="0"/>
          </a:p>
        </p:txBody>
      </p:sp>
      <p:sp>
        <p:nvSpPr>
          <p:cNvPr id="49" name="Text 35"/>
          <p:cNvSpPr/>
          <p:nvPr/>
        </p:nvSpPr>
        <p:spPr>
          <a:xfrm>
            <a:off x="640080" y="64739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Homiquity Mortgage Corp.</a:t>
            </a:r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Confidential — for prospective wholesale-lender partners</a:t>
            </a:r>
            <a:endParaRPr lang="en-US" sz="900" dirty="0"/>
          </a:p>
        </p:txBody>
      </p:sp>
      <p:sp>
        <p:nvSpPr>
          <p:cNvPr id="50" name="Text 36"/>
          <p:cNvSpPr/>
          <p:nvPr/>
        </p:nvSpPr>
        <p:spPr>
          <a:xfrm>
            <a:off x="1118585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· ACQUIRE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bring you qualified, consented borrowers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purpose-built top-of-funnel — persona landing pages, an SEO/content engine, and free decision tools — captures buyers early and hands them into the loop with consent already in hand.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429000"/>
            <a:ext cx="502920" cy="502920"/>
          </a:xfrm>
          <a:prstGeom prst="ellipse">
            <a:avLst/>
          </a:prstGeom>
          <a:solidFill>
            <a:srgbClr val="0B7A5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898" y="3569818"/>
            <a:ext cx="221285" cy="22128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337413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landing pages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25880" y="368503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First-time buyer, VA, self-employed, refinance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4297680"/>
            <a:ext cx="502920" cy="502920"/>
          </a:xfrm>
          <a:prstGeom prst="ellipse">
            <a:avLst/>
          </a:prstGeom>
          <a:solidFill>
            <a:srgbClr val="0B7A5E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898" y="4438498"/>
            <a:ext cx="221285" cy="22128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424281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+ education engine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325880" y="455371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Articles, glossary, buying-power tools that rank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40080" y="5166360"/>
            <a:ext cx="502920" cy="502920"/>
          </a:xfrm>
          <a:prstGeom prst="ellipse">
            <a:avLst/>
          </a:prstGeom>
          <a:solidFill>
            <a:srgbClr val="0B7A5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898" y="5307178"/>
            <a:ext cx="221285" cy="22128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25880" y="511149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Strength + calculators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325880" y="542239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calculators that turn browsers into applicants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309360" y="169164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E9F6F0"/>
          </a:solidFill>
          <a:ln/>
          <a:effectLst>
            <a:outerShdw sx="100000" sy="100000" kx="0" ky="0" algn="bl" rotWithShape="0" blurRad="88900" dist="38100" dir="5400000">
              <a:srgbClr val="9AA6B8">
                <a:alpha val="2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223760" y="2075688"/>
            <a:ext cx="777240" cy="777240"/>
          </a:xfrm>
          <a:prstGeom prst="ellipse">
            <a:avLst/>
          </a:prstGeom>
          <a:solidFill>
            <a:srgbClr val="0B7A5E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1387" y="2293315"/>
            <a:ext cx="341986" cy="34198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309360" y="30175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First-time buyer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9235440" y="169164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EEF2FB"/>
          </a:solidFill>
          <a:ln/>
          <a:effectLst>
            <a:outerShdw sx="100000" sy="100000" kx="0" ky="0" algn="bl" rotWithShape="0" blurRad="88900" dist="38100" dir="5400000">
              <a:srgbClr val="9AA6B8">
                <a:alpha val="28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10149840" y="2075688"/>
            <a:ext cx="777240" cy="777240"/>
          </a:xfrm>
          <a:prstGeom prst="ellipse">
            <a:avLst/>
          </a:prstGeom>
          <a:solidFill>
            <a:srgbClr val="1C3A8F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7467" y="2293315"/>
            <a:ext cx="341986" cy="34198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235440" y="30175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 loans</a:t>
            </a:r>
            <a:endParaRPr lang="en-US" sz="1400" dirty="0"/>
          </a:p>
        </p:txBody>
      </p:sp>
      <p:sp>
        <p:nvSpPr>
          <p:cNvPr id="25" name="Shape 18"/>
          <p:cNvSpPr/>
          <p:nvPr/>
        </p:nvSpPr>
        <p:spPr>
          <a:xfrm>
            <a:off x="6309360" y="397764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E9F6F0"/>
          </a:solidFill>
          <a:ln/>
          <a:effectLst>
            <a:outerShdw sx="100000" sy="100000" kx="0" ky="0" algn="bl" rotWithShape="0" blurRad="88900" dist="38100" dir="5400000">
              <a:srgbClr val="9AA6B8">
                <a:alpha val="28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7223760" y="4361688"/>
            <a:ext cx="777240" cy="777240"/>
          </a:xfrm>
          <a:prstGeom prst="ellipse">
            <a:avLst/>
          </a:prstGeom>
          <a:solidFill>
            <a:srgbClr val="0B7A5E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1387" y="4579315"/>
            <a:ext cx="341986" cy="34198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309360" y="53035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Self-employed</a:t>
            </a:r>
            <a:endParaRPr lang="en-US" sz="1400" dirty="0"/>
          </a:p>
        </p:txBody>
      </p:sp>
      <p:sp>
        <p:nvSpPr>
          <p:cNvPr id="29" name="Shape 21"/>
          <p:cNvSpPr/>
          <p:nvPr/>
        </p:nvSpPr>
        <p:spPr>
          <a:xfrm>
            <a:off x="9235440" y="397764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EEF2FB"/>
          </a:solidFill>
          <a:ln/>
          <a:effectLst>
            <a:outerShdw sx="100000" sy="100000" kx="0" ky="0" algn="bl" rotWithShape="0" blurRad="88900" dist="38100" dir="5400000">
              <a:srgbClr val="9AA6B8">
                <a:alpha val="28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10149840" y="4361688"/>
            <a:ext cx="777240" cy="777240"/>
          </a:xfrm>
          <a:prstGeom prst="ellipse">
            <a:avLst/>
          </a:prstGeom>
          <a:solidFill>
            <a:srgbClr val="1C3A8F"/>
          </a:solidFill>
          <a:ln/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67467" y="4579315"/>
            <a:ext cx="341986" cy="341986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9235440" y="53035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Refinance</a:t>
            </a:r>
            <a:endParaRPr lang="en-US" sz="1400" dirty="0"/>
          </a:p>
        </p:txBody>
      </p:sp>
      <p:sp>
        <p:nvSpPr>
          <p:cNvPr id="33" name="Text 24"/>
          <p:cNvSpPr/>
          <p:nvPr/>
        </p:nvSpPr>
        <p:spPr>
          <a:xfrm>
            <a:off x="640080" y="64739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Homiquity Mortgage Corp.</a:t>
            </a:r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Confidential — for prospective wholesale-lender partners</a:t>
            </a:r>
            <a:endParaRPr lang="en-US" sz="900" dirty="0"/>
          </a:p>
        </p:txBody>
      </p:sp>
      <p:sp>
        <p:nvSpPr>
          <p:cNvPr id="34" name="Text 25"/>
          <p:cNvSpPr/>
          <p:nvPr/>
        </p:nvSpPr>
        <p:spPr>
          <a:xfrm>
            <a:off x="1118585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· INTAKE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complete, consented application — done right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911535" cy="960120"/>
          </a:xfrm>
          <a:prstGeom prst="roundRect">
            <a:avLst>
              <a:gd name="adj" fmla="val 9524"/>
            </a:avLst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1956816"/>
            <a:ext cx="530352" cy="530352"/>
          </a:xfrm>
          <a:prstGeom prst="ellipse">
            <a:avLst/>
          </a:prstGeom>
          <a:solidFill>
            <a:srgbClr val="1C3A8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611" y="2105315"/>
            <a:ext cx="233355" cy="23335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4708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Consented URLA (Form 1003)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126480" y="1847088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application, captured cleanly — with the borrower's consent recorded before anything moves.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2834640"/>
            <a:ext cx="10911535" cy="960120"/>
          </a:xfrm>
          <a:prstGeom prst="roundRect">
            <a:avLst>
              <a:gd name="adj" fmla="val 9524"/>
            </a:avLst>
          </a:prstGeom>
          <a:solidFill>
            <a:srgbClr val="F1F5F9"/>
          </a:solidFill>
          <a:ln/>
        </p:spPr>
      </p:sp>
      <p:sp>
        <p:nvSpPr>
          <p:cNvPr id="10" name="Shape 7"/>
          <p:cNvSpPr/>
          <p:nvPr/>
        </p:nvSpPr>
        <p:spPr>
          <a:xfrm>
            <a:off x="896112" y="3054096"/>
            <a:ext cx="530352" cy="530352"/>
          </a:xfrm>
          <a:prstGeom prst="ellipse">
            <a:avLst/>
          </a:prstGeom>
          <a:solidFill>
            <a:srgbClr val="1C3A8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611" y="3202595"/>
            <a:ext cx="233355" cy="23335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294436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TRID clock starts at exactly six pieces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126480" y="2944368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moment sooner or later — the six application elements trigger the timing, correctly, every time.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3931920"/>
            <a:ext cx="10911535" cy="960120"/>
          </a:xfrm>
          <a:prstGeom prst="roundRect">
            <a:avLst>
              <a:gd name="adj" fmla="val 9524"/>
            </a:avLst>
          </a:prstGeom>
          <a:solidFill>
            <a:srgbClr val="F1F5F9"/>
          </a:solidFill>
          <a:ln/>
        </p:spPr>
      </p:sp>
      <p:sp>
        <p:nvSpPr>
          <p:cNvPr id="15" name="Shape 11"/>
          <p:cNvSpPr/>
          <p:nvPr/>
        </p:nvSpPr>
        <p:spPr>
          <a:xfrm>
            <a:off x="896112" y="4151376"/>
            <a:ext cx="530352" cy="530352"/>
          </a:xfrm>
          <a:prstGeom prst="ellipse">
            <a:avLst/>
          </a:prstGeom>
          <a:solidFill>
            <a:srgbClr val="1C3A8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611" y="4299875"/>
            <a:ext cx="233355" cy="23335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04164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E-disclosures + e-consent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126480" y="4041648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ESIGN-compliant delivery and consent, tracked and auditable.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40080" y="5029200"/>
            <a:ext cx="10911535" cy="960120"/>
          </a:xfrm>
          <a:prstGeom prst="roundRect">
            <a:avLst>
              <a:gd name="adj" fmla="val 9524"/>
            </a:avLst>
          </a:prstGeom>
          <a:solidFill>
            <a:srgbClr val="F1F5F9"/>
          </a:solidFill>
          <a:ln/>
        </p:spPr>
      </p:sp>
      <p:sp>
        <p:nvSpPr>
          <p:cNvPr id="20" name="Shape 15"/>
          <p:cNvSpPr/>
          <p:nvPr/>
        </p:nvSpPr>
        <p:spPr>
          <a:xfrm>
            <a:off x="896112" y="5248656"/>
            <a:ext cx="530352" cy="530352"/>
          </a:xfrm>
          <a:prstGeom prst="ellipse">
            <a:avLst/>
          </a:prstGeom>
          <a:solidFill>
            <a:srgbClr val="1C3A8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611" y="5397155"/>
            <a:ext cx="233355" cy="23335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91640" y="513892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document coaching — extraction only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126480" y="5138928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structures and completes the file. It never decides, and never implies approval or eligibility.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640080" y="64739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Homiquity Mortgage Corp.</a:t>
            </a:r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Confidential — for prospective wholesale-lender partners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18585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· DECIDE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instant pre-approval read you can trust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4114800" cy="3977640"/>
          </a:xfrm>
          <a:prstGeom prst="roundRect">
            <a:avLst>
              <a:gd name="adj" fmla="val 3218"/>
            </a:avLst>
          </a:prstGeom>
          <a:solidFill>
            <a:srgbClr val="142A66"/>
          </a:solidFill>
          <a:ln/>
          <a:effectLst>
            <a:outerShdw sx="100000" sy="100000" kx="0" ky="0" algn="bl" rotWithShape="0" blurRad="88900" dist="38100" dir="5400000">
              <a:srgbClr val="9AA6B8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14884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Deterministic.</a:t>
            </a:r>
            <a:endParaRPr lang="en-US" sz="3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AI-free.</a:t>
            </a:r>
            <a:endParaRPr lang="en-US" sz="3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Auditable.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05840" y="46177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CFE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inputs → same outcome. No black box, no model deciding who qualifies.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166360" y="1783080"/>
            <a:ext cx="548640" cy="548640"/>
          </a:xfrm>
          <a:prstGeom prst="ellipse">
            <a:avLst/>
          </a:prstGeom>
          <a:solidFill>
            <a:srgbClr val="0B7A5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19979" y="1936699"/>
            <a:ext cx="241402" cy="24140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897880" y="1728216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read in one session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897880" y="20574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Affordability, DTI, and credit-tier math resolve immediately — the borrower knows where they stand.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166360" y="2788920"/>
            <a:ext cx="548640" cy="548640"/>
          </a:xfrm>
          <a:prstGeom prst="ellipse">
            <a:avLst/>
          </a:prstGeom>
          <a:solidFill>
            <a:srgbClr val="0B7A5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9979" y="2942539"/>
            <a:ext cx="241402" cy="2414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897880" y="2734056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LLPA-aware pricing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897880" y="306324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adjustments computed against agency grids — cited, not guessed.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166360" y="3794760"/>
            <a:ext cx="548640" cy="548640"/>
          </a:xfrm>
          <a:prstGeom prst="ellipse">
            <a:avLst/>
          </a:prstGeom>
          <a:solidFill>
            <a:srgbClr val="0B7A5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9979" y="3948379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897880" y="3739896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Ambiguity routes to a human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5897880" y="406908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 are escalated to staff, never auto-decided by the machine.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166360" y="4800600"/>
            <a:ext cx="548640" cy="548640"/>
          </a:xfrm>
          <a:prstGeom prst="ellipse">
            <a:avLst/>
          </a:prstGeom>
          <a:solidFill>
            <a:srgbClr val="0B7A5E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9979" y="4954219"/>
            <a:ext cx="241402" cy="24140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897880" y="4745736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 action handled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5897880" y="507492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adverse action without the required notice — FCRA/ECOA by construction.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640080" y="64739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Homiquity Mortgage Corp.</a:t>
            </a:r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Confidential — for prospective wholesale-lender partners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18585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· PACKAGE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package that's decision-ready on the first pass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23818" cy="160020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9AA6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993392"/>
            <a:ext cx="548640" cy="548640"/>
          </a:xfrm>
          <a:prstGeom prst="ellipse">
            <a:avLst/>
          </a:prstGeom>
          <a:solidFill>
            <a:srgbClr val="0B7A5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731" y="2147011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93392"/>
            <a:ext cx="2326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3.4 / ULDD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96112" y="2606040"/>
            <a:ext cx="29117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Standards-valid output (ULDD Phase 5) — the format your systems ingest.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3938" y="1737360"/>
            <a:ext cx="3423818" cy="160020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9AA6B8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39970" y="1993392"/>
            <a:ext cx="548640" cy="548640"/>
          </a:xfrm>
          <a:prstGeom prst="ellipse">
            <a:avLst/>
          </a:prstGeom>
          <a:solidFill>
            <a:srgbClr val="0B7A5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3590" y="2147011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98338" y="1993392"/>
            <a:ext cx="2326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 points-and-fees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639970" y="2606040"/>
            <a:ext cx="29117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Points-and-fees and APR-APOR spread pre-flighted against the note-date thresholds.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27797" y="1737360"/>
            <a:ext cx="3423818" cy="160020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9AA6B8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83829" y="1993392"/>
            <a:ext cx="548640" cy="548640"/>
          </a:xfrm>
          <a:prstGeom prst="ellipse">
            <a:avLst/>
          </a:prstGeom>
          <a:solidFill>
            <a:srgbClr val="0B7A5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7448" y="2147011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42197" y="1993392"/>
            <a:ext cx="2326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Anti-steering disclosure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383829" y="2606040"/>
            <a:ext cx="29117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 Z §1026.36(e)(3) options presented before anything is locked.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3657600"/>
            <a:ext cx="3423818" cy="160020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9AA6B8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96112" y="3913632"/>
            <a:ext cx="548640" cy="548640"/>
          </a:xfrm>
          <a:prstGeom prst="ellipse">
            <a:avLst/>
          </a:prstGeom>
          <a:solidFill>
            <a:srgbClr val="0B7A5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731" y="4067251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54480" y="3913632"/>
            <a:ext cx="2326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Feature Codes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896112" y="4526280"/>
            <a:ext cx="29117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SFCs derived and validated as a set — not hand-typed.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83938" y="3657600"/>
            <a:ext cx="3423818" cy="160020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9AA6B8">
                <a:alpha val="2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39970" y="3913632"/>
            <a:ext cx="548640" cy="548640"/>
          </a:xfrm>
          <a:prstGeom prst="ellipse">
            <a:avLst/>
          </a:prstGeom>
          <a:solidFill>
            <a:srgbClr val="0B7A5E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3590" y="4067251"/>
            <a:ext cx="241402" cy="24140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98338" y="3913632"/>
            <a:ext cx="2326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UCD / ULDD / EarlyCheck mirror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639970" y="4526280"/>
            <a:ext cx="29117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run your delivery edits as a lender's-eye pre-check before you ever see the file.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27797" y="3657600"/>
            <a:ext cx="3423818" cy="160020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9AA6B8">
                <a:alpha val="2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83829" y="3913632"/>
            <a:ext cx="548640" cy="548640"/>
          </a:xfrm>
          <a:prstGeom prst="ellipse">
            <a:avLst/>
          </a:prstGeom>
          <a:solidFill>
            <a:srgbClr val="0B7A5E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7448" y="4067251"/>
            <a:ext cx="241402" cy="24140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42197" y="3913632"/>
            <a:ext cx="2326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+ consistent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383829" y="4526280"/>
            <a:ext cx="29117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Outstanding-document gating means nothing critical is missing at submission.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640080" y="580644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you care:  </a:t>
            </a:r>
            <a:pPr indent="0" marL="0">
              <a:buNone/>
            </a:pPr>
            <a:r>
              <a:rPr lang="en-US" sz="1400" i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clean, standards-valid file underwrites faster and bounces less — lowering your cost per loan.</a:t>
            </a:r>
            <a:endParaRPr lang="en-US" sz="1400" dirty="0"/>
          </a:p>
        </p:txBody>
      </p:sp>
      <p:sp>
        <p:nvSpPr>
          <p:cNvPr id="35" name="Text 27"/>
          <p:cNvSpPr/>
          <p:nvPr/>
        </p:nvSpPr>
        <p:spPr>
          <a:xfrm>
            <a:off x="640080" y="64739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Homiquity Mortgage Corp.</a:t>
            </a:r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Confidential — for prospective wholesale-lender partners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18585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 · DUAL AUS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 and LPA — findings captured before delivery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486400" cy="3383280"/>
          </a:xfrm>
          <a:prstGeom prst="roundRect">
            <a:avLst>
              <a:gd name="adj" fmla="val 3243"/>
            </a:avLst>
          </a:prstGeom>
          <a:solidFill>
            <a:srgbClr val="EEF2FB"/>
          </a:solidFill>
          <a:ln/>
          <a:effectLst>
            <a:outerShdw sx="100000" sy="100000" kx="0" ky="0" algn="bl" rotWithShape="0" blurRad="88900" dist="38100" dir="5400000">
              <a:srgbClr val="9AA6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03120"/>
            <a:ext cx="685800" cy="685800"/>
          </a:xfrm>
          <a:prstGeom prst="ellipse">
            <a:avLst/>
          </a:prstGeom>
          <a:solidFill>
            <a:srgbClr val="1C3A8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" y="229514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1214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Underwriter (DU)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783080" y="24871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Fannie Mae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182112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315468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Casefile assembled from the verified file</a:t>
            </a:r>
            <a:endParaRPr lang="en-US" sz="13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749040"/>
            <a:ext cx="219456" cy="2194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71600" y="372160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DU-12.1-shaped findings captured</a:t>
            </a:r>
            <a:endParaRPr lang="en-US" sz="13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315968"/>
            <a:ext cx="219456" cy="21945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371600" y="4288536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Day-1-Certainty-style commitment output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6400800" y="1783080"/>
            <a:ext cx="5486400" cy="3383280"/>
          </a:xfrm>
          <a:prstGeom prst="roundRect">
            <a:avLst>
              <a:gd name="adj" fmla="val 3243"/>
            </a:avLst>
          </a:prstGeom>
          <a:solidFill>
            <a:srgbClr val="E9F6F0"/>
          </a:solidFill>
          <a:ln/>
          <a:effectLst>
            <a:outerShdw sx="100000" sy="100000" kx="0" ky="0" algn="bl" rotWithShape="0" blurRad="88900" dist="38100" dir="5400000">
              <a:srgbClr val="9AA6B8">
                <a:alpha val="28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6720840" y="2103120"/>
            <a:ext cx="685800" cy="685800"/>
          </a:xfrm>
          <a:prstGeom prst="ellipse">
            <a:avLst/>
          </a:prstGeom>
          <a:solidFill>
            <a:srgbClr val="0B7A5E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2864" y="2295144"/>
            <a:ext cx="301752" cy="30175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543800" y="21214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Product Advisor (LPA)</a:t>
            </a:r>
            <a:endParaRPr lang="en-US" sz="1700" dirty="0"/>
          </a:p>
        </p:txBody>
      </p:sp>
      <p:sp>
        <p:nvSpPr>
          <p:cNvPr id="19" name="Text 12"/>
          <p:cNvSpPr/>
          <p:nvPr/>
        </p:nvSpPr>
        <p:spPr>
          <a:xfrm>
            <a:off x="7543800" y="24871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Freddie Mac</a:t>
            </a:r>
            <a:endParaRPr lang="en-US" sz="12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0" y="3182112"/>
            <a:ext cx="219456" cy="219456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7132320" y="315468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agency leg run in parallel</a:t>
            </a:r>
            <a:endParaRPr lang="en-US" sz="130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6560" y="3749040"/>
            <a:ext cx="219456" cy="219456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7132320" y="372160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reconciled against the DU read</a:t>
            </a:r>
            <a:endParaRPr lang="en-US" sz="130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6560" y="4315968"/>
            <a:ext cx="219456" cy="219456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7132320" y="4288536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Broadens the wholesale channels you can serve</a:t>
            </a:r>
            <a:endParaRPr lang="en-US" sz="1300" dirty="0"/>
          </a:p>
        </p:txBody>
      </p:sp>
      <p:sp>
        <p:nvSpPr>
          <p:cNvPr id="26" name="Shape 16"/>
          <p:cNvSpPr/>
          <p:nvPr/>
        </p:nvSpPr>
        <p:spPr>
          <a:xfrm>
            <a:off x="640080" y="5440680"/>
            <a:ext cx="10911535" cy="640080"/>
          </a:xfrm>
          <a:prstGeom prst="roundRect">
            <a:avLst>
              <a:gd name="adj" fmla="val 11429"/>
            </a:avLst>
          </a:prstGeom>
          <a:solidFill>
            <a:srgbClr val="FBF5E7"/>
          </a:solidFill>
          <a:ln/>
        </p:spPr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8680" y="5596128"/>
            <a:ext cx="292608" cy="292608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1325880" y="5440680"/>
            <a:ext cx="9997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AUS legs run as deterministic simulations behind production adapters today; they switch to live DU/LPA the day Homiquity is credentialed — the integration seam is already built.</a:t>
            </a:r>
            <a:endParaRPr lang="en-US" sz="1150" dirty="0"/>
          </a:p>
        </p:txBody>
      </p:sp>
      <p:sp>
        <p:nvSpPr>
          <p:cNvPr id="29" name="Text 18"/>
          <p:cNvSpPr/>
          <p:nvPr/>
        </p:nvSpPr>
        <p:spPr>
          <a:xfrm>
            <a:off x="640080" y="64739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Homiquity Mortgage Corp.</a:t>
            </a:r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Confidential — for prospective wholesale-lender partners</a:t>
            </a:r>
            <a:endParaRPr lang="en-US" sz="900" dirty="0"/>
          </a:p>
        </p:txBody>
      </p:sp>
      <p:sp>
        <p:nvSpPr>
          <p:cNvPr id="30" name="Text 19"/>
          <p:cNvSpPr/>
          <p:nvPr/>
        </p:nvSpPr>
        <p:spPr>
          <a:xfrm>
            <a:off x="1118585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6 · DELIVER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Submission-ready, into your TPO channel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target shortlist of wholesale partners, a real submission state machine, and a readiness gate that won't let a file go until it's clean.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2496312" cy="457200"/>
          </a:xfrm>
          <a:prstGeom prst="roundRect">
            <a:avLst>
              <a:gd name="adj" fmla="val 50000"/>
            </a:avLst>
          </a:prstGeom>
          <a:solidFill>
            <a:srgbClr val="EEF2F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240280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Wholesale Mortgage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64992" y="2240280"/>
            <a:ext cx="1510589" cy="457200"/>
          </a:xfrm>
          <a:prstGeom prst="roundRect">
            <a:avLst>
              <a:gd name="adj" fmla="val 50000"/>
            </a:avLst>
          </a:prstGeom>
          <a:solidFill>
            <a:srgbClr val="EEF2FB"/>
          </a:solidFill>
          <a:ln/>
        </p:spPr>
      </p:sp>
      <p:sp>
        <p:nvSpPr>
          <p:cNvPr id="8" name="Text 6"/>
          <p:cNvSpPr/>
          <p:nvPr/>
        </p:nvSpPr>
        <p:spPr>
          <a:xfrm>
            <a:off x="3364992" y="2240280"/>
            <a:ext cx="15105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Rocket Pro TPO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104181" y="2240280"/>
            <a:ext cx="1958645" cy="457200"/>
          </a:xfrm>
          <a:prstGeom prst="roundRect">
            <a:avLst>
              <a:gd name="adj" fmla="val 50000"/>
            </a:avLst>
          </a:prstGeom>
          <a:solidFill>
            <a:srgbClr val="EEF2FB"/>
          </a:solidFill>
          <a:ln/>
        </p:spPr>
      </p:sp>
      <p:sp>
        <p:nvSpPr>
          <p:cNvPr id="10" name="Text 8"/>
          <p:cNvSpPr/>
          <p:nvPr/>
        </p:nvSpPr>
        <p:spPr>
          <a:xfrm>
            <a:off x="5104181" y="2240280"/>
            <a:ext cx="19586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Plaza Home Mortgage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291426" y="2240280"/>
            <a:ext cx="1062533" cy="457200"/>
          </a:xfrm>
          <a:prstGeom prst="roundRect">
            <a:avLst>
              <a:gd name="adj" fmla="val 50000"/>
            </a:avLst>
          </a:prstGeom>
          <a:solidFill>
            <a:srgbClr val="EEF2FB"/>
          </a:solidFill>
          <a:ln/>
        </p:spPr>
      </p:sp>
      <p:sp>
        <p:nvSpPr>
          <p:cNvPr id="12" name="Text 10"/>
          <p:cNvSpPr/>
          <p:nvPr/>
        </p:nvSpPr>
        <p:spPr>
          <a:xfrm>
            <a:off x="7291426" y="2240280"/>
            <a:ext cx="106253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Angel Oak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582558" y="2240280"/>
            <a:ext cx="1689811" cy="457200"/>
          </a:xfrm>
          <a:prstGeom prst="roundRect">
            <a:avLst>
              <a:gd name="adj" fmla="val 50000"/>
            </a:avLst>
          </a:prstGeom>
          <a:solidFill>
            <a:srgbClr val="EEF2FB"/>
          </a:solidFill>
          <a:ln/>
        </p:spPr>
      </p:sp>
      <p:sp>
        <p:nvSpPr>
          <p:cNvPr id="14" name="Text 12"/>
          <p:cNvSpPr/>
          <p:nvPr/>
        </p:nvSpPr>
        <p:spPr>
          <a:xfrm>
            <a:off x="8582558" y="2240280"/>
            <a:ext cx="16898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Newrez Wholesale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2788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Target-5 shortlist · DU + LPA channels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33375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STATUS — TRACKED END TO END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703320"/>
            <a:ext cx="1589989" cy="6858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703320"/>
            <a:ext cx="149854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</a:t>
            </a:r>
            <a:endParaRPr lang="en-US" sz="115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4933" y="3959352"/>
            <a:ext cx="164592" cy="164592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2504389" y="3703320"/>
            <a:ext cx="1589989" cy="6858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/>
        </p:spPr>
      </p:sp>
      <p:sp>
        <p:nvSpPr>
          <p:cNvPr id="21" name="Text 18"/>
          <p:cNvSpPr/>
          <p:nvPr/>
        </p:nvSpPr>
        <p:spPr>
          <a:xfrm>
            <a:off x="2550109" y="3703320"/>
            <a:ext cx="149854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Acknowledged</a:t>
            </a:r>
            <a:endParaRPr lang="en-US" sz="115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9242" y="3959352"/>
            <a:ext cx="164592" cy="164592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4368698" y="3703320"/>
            <a:ext cx="1589989" cy="6858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/>
        </p:spPr>
      </p:sp>
      <p:sp>
        <p:nvSpPr>
          <p:cNvPr id="24" name="Text 20"/>
          <p:cNvSpPr/>
          <p:nvPr/>
        </p:nvSpPr>
        <p:spPr>
          <a:xfrm>
            <a:off x="4414418" y="3703320"/>
            <a:ext cx="149854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underwriting</a:t>
            </a:r>
            <a:endParaRPr lang="en-US" sz="115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3552" y="3959352"/>
            <a:ext cx="164592" cy="164592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6233008" y="3703320"/>
            <a:ext cx="1589989" cy="6858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/>
        </p:spPr>
      </p:sp>
      <p:sp>
        <p:nvSpPr>
          <p:cNvPr id="27" name="Text 22"/>
          <p:cNvSpPr/>
          <p:nvPr/>
        </p:nvSpPr>
        <p:spPr>
          <a:xfrm>
            <a:off x="6278728" y="3703320"/>
            <a:ext cx="149854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</a:t>
            </a:r>
            <a:endParaRPr lang="en-US" sz="115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7861" y="3959352"/>
            <a:ext cx="164592" cy="164592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8097317" y="3703320"/>
            <a:ext cx="1589989" cy="6858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/>
        </p:spPr>
      </p:sp>
      <p:sp>
        <p:nvSpPr>
          <p:cNvPr id="30" name="Text 24"/>
          <p:cNvSpPr/>
          <p:nvPr/>
        </p:nvSpPr>
        <p:spPr>
          <a:xfrm>
            <a:off x="8143037" y="3703320"/>
            <a:ext cx="149854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to close</a:t>
            </a:r>
            <a:endParaRPr lang="en-US" sz="115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42170" y="3959352"/>
            <a:ext cx="164592" cy="164592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9961626" y="3703320"/>
            <a:ext cx="1589989" cy="685800"/>
          </a:xfrm>
          <a:prstGeom prst="roundRect">
            <a:avLst>
              <a:gd name="adj" fmla="val 12000"/>
            </a:avLst>
          </a:prstGeom>
          <a:solidFill>
            <a:srgbClr val="0B7A5E"/>
          </a:solidFill>
          <a:ln/>
        </p:spPr>
      </p:sp>
      <p:sp>
        <p:nvSpPr>
          <p:cNvPr id="33" name="Text 26"/>
          <p:cNvSpPr/>
          <p:nvPr/>
        </p:nvSpPr>
        <p:spPr>
          <a:xfrm>
            <a:off x="10007346" y="3703320"/>
            <a:ext cx="149854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Funded</a:t>
            </a:r>
            <a:endParaRPr lang="en-US" sz="1150" dirty="0"/>
          </a:p>
        </p:txBody>
      </p:sp>
      <p:sp>
        <p:nvSpPr>
          <p:cNvPr id="34" name="Shape 27"/>
          <p:cNvSpPr/>
          <p:nvPr/>
        </p:nvSpPr>
        <p:spPr>
          <a:xfrm>
            <a:off x="640080" y="4709160"/>
            <a:ext cx="10911535" cy="868680"/>
          </a:xfrm>
          <a:prstGeom prst="roundRect">
            <a:avLst>
              <a:gd name="adj" fmla="val 10526"/>
            </a:avLst>
          </a:prstGeom>
          <a:solidFill>
            <a:srgbClr val="0F1729"/>
          </a:solidFill>
          <a:ln/>
        </p:spPr>
      </p:sp>
      <p:sp>
        <p:nvSpPr>
          <p:cNvPr id="35" name="Shape 28"/>
          <p:cNvSpPr/>
          <p:nvPr/>
        </p:nvSpPr>
        <p:spPr>
          <a:xfrm>
            <a:off x="896112" y="4892040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930" y="5032858"/>
            <a:ext cx="221285" cy="221285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600200" y="4709160"/>
            <a:ext cx="97228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Readiness-gated.  </a:t>
            </a:r>
            <a:pPr indent="0" marL="0">
              <a:buNone/>
            </a:pPr>
            <a:r>
              <a:rPr lang="en-US" sz="1300" dirty="0">
                <a:solidFill>
                  <a:srgbClr val="E6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submission carries a snapshot of what we believed about the file at the moment we sent it — a built-in audit trail for both sides.</a:t>
            </a:r>
            <a:endParaRPr lang="en-US" sz="1300" dirty="0"/>
          </a:p>
        </p:txBody>
      </p:sp>
      <p:sp>
        <p:nvSpPr>
          <p:cNvPr id="38" name="Text 30"/>
          <p:cNvSpPr/>
          <p:nvPr/>
        </p:nvSpPr>
        <p:spPr>
          <a:xfrm>
            <a:off x="640080" y="57150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Lender shortlist is business-development data; the submission adapter is a deterministic simulation until a signed broker agreement exists.</a:t>
            </a:r>
            <a:endParaRPr lang="en-US" sz="1050" dirty="0"/>
          </a:p>
        </p:txBody>
      </p:sp>
      <p:sp>
        <p:nvSpPr>
          <p:cNvPr id="39" name="Text 31"/>
          <p:cNvSpPr/>
          <p:nvPr/>
        </p:nvSpPr>
        <p:spPr>
          <a:xfrm>
            <a:off x="640080" y="64739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Homiquity Mortgage Corp.</a:t>
            </a:r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Confidential — for prospective wholesale-lender partners</a:t>
            </a:r>
            <a:endParaRPr lang="en-US" sz="900" dirty="0"/>
          </a:p>
        </p:txBody>
      </p:sp>
      <p:sp>
        <p:nvSpPr>
          <p:cNvPr id="40" name="Text 32"/>
          <p:cNvSpPr/>
          <p:nvPr/>
        </p:nvSpPr>
        <p:spPr>
          <a:xfrm>
            <a:off x="1118585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TO YOU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reasons a lender says yes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393338" cy="3749040"/>
          </a:xfrm>
          <a:prstGeom prst="roundRect">
            <a:avLst>
              <a:gd name="adj" fmla="val 3773"/>
            </a:avLst>
          </a:prstGeom>
          <a:solidFill>
            <a:srgbClr val="E9F6F0"/>
          </a:solidFill>
          <a:ln/>
          <a:effectLst>
            <a:outerShdw sx="100000" sy="100000" kx="0" ky="0" algn="bl" rotWithShape="0" blurRad="88900" dist="38100" dir="5400000">
              <a:srgbClr val="9AA6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79549" y="2377440"/>
            <a:ext cx="914400" cy="914400"/>
          </a:xfrm>
          <a:prstGeom prst="ellipse">
            <a:avLst/>
          </a:prstGeom>
          <a:solidFill>
            <a:srgbClr val="0B7A5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5581" y="263347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520440"/>
            <a:ext cx="33933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files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60120" y="4114800"/>
            <a:ext cx="27532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Standards-valid, pre-flighted packages underwrite faster and bounce less — lower cost per loan, higher pull-through.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399178" y="1920240"/>
            <a:ext cx="3393338" cy="3749040"/>
          </a:xfrm>
          <a:prstGeom prst="roundRect">
            <a:avLst>
              <a:gd name="adj" fmla="val 3773"/>
            </a:avLst>
          </a:prstGeom>
          <a:solidFill>
            <a:srgbClr val="EEF2FB"/>
          </a:solidFill>
          <a:ln/>
          <a:effectLst>
            <a:outerShdw sx="100000" sy="100000" kx="0" ky="0" algn="bl" rotWithShape="0" blurRad="88900" dist="38100" dir="5400000">
              <a:srgbClr val="9AA6B8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38648" y="2377440"/>
            <a:ext cx="914400" cy="914400"/>
          </a:xfrm>
          <a:prstGeom prst="ellipse">
            <a:avLst/>
          </a:prstGeom>
          <a:solidFill>
            <a:srgbClr val="1C3A8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4680" y="263347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99178" y="3520440"/>
            <a:ext cx="33933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4719218" y="4114800"/>
            <a:ext cx="27532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purpose-built funnel feeds you a steady flow of qualified, consented borrowers you didn't have to source.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158277" y="1920240"/>
            <a:ext cx="3393338" cy="3749040"/>
          </a:xfrm>
          <a:prstGeom prst="roundRect">
            <a:avLst>
              <a:gd name="adj" fmla="val 3773"/>
            </a:avLst>
          </a:prstGeom>
          <a:solidFill>
            <a:srgbClr val="E9F6F0"/>
          </a:solidFill>
          <a:ln/>
          <a:effectLst>
            <a:outerShdw sx="100000" sy="100000" kx="0" ky="0" algn="bl" rotWithShape="0" blurRad="88900" dist="38100" dir="5400000">
              <a:srgbClr val="9AA6B8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397746" y="2377440"/>
            <a:ext cx="914400" cy="914400"/>
          </a:xfrm>
          <a:prstGeom prst="ellipse">
            <a:avLst/>
          </a:prstGeom>
          <a:solidFill>
            <a:srgbClr val="0B7A5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3778" y="263347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58277" y="3520440"/>
            <a:ext cx="33933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Velocity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8478317" y="4114800"/>
            <a:ext cx="27532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Certainty and speed compress the path from intake to submission — less fallout, faster funding.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40080" y="64739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Homiquity Mortgage Corp.</a:t>
            </a:r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Confidential — for prospective wholesale-lender partners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18585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TRUST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compliance-first, not bolted 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640080" cy="640080"/>
          </a:xfrm>
          <a:prstGeom prst="ellipse">
            <a:avLst/>
          </a:prstGeom>
          <a:solidFill>
            <a:srgbClr val="0B7A5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302" y="2008022"/>
            <a:ext cx="281635" cy="28163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737360"/>
            <a:ext cx="426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engine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508760" y="2093976"/>
            <a:ext cx="4267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decisions; no AI in the lending decision, ever.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324448" y="1828800"/>
            <a:ext cx="640080" cy="640080"/>
          </a:xfrm>
          <a:prstGeom prst="ellipse">
            <a:avLst/>
          </a:prstGeom>
          <a:solidFill>
            <a:srgbClr val="1C3A8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3670" y="2008022"/>
            <a:ext cx="281635" cy="28163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93128" y="1737360"/>
            <a:ext cx="426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through a vault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193128" y="2093976"/>
            <a:ext cx="4267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SSNs stored as ciphertext + last-4, decrypted only at the delivery seam.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291840"/>
            <a:ext cx="640080" cy="640080"/>
          </a:xfrm>
          <a:prstGeom prst="ellipse">
            <a:avLst/>
          </a:prstGeom>
          <a:solidFill>
            <a:srgbClr val="0B7A5E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302" y="3471062"/>
            <a:ext cx="281635" cy="28163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3200400"/>
            <a:ext cx="426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everywhere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508760" y="3557016"/>
            <a:ext cx="4267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PII touch and file action is recorded for the record.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324448" y="3291840"/>
            <a:ext cx="640080" cy="640080"/>
          </a:xfrm>
          <a:prstGeom prst="ellipse">
            <a:avLst/>
          </a:prstGeom>
          <a:solidFill>
            <a:srgbClr val="1C3A8F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3670" y="3471062"/>
            <a:ext cx="281635" cy="28163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193128" y="3200400"/>
            <a:ext cx="426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Fannie-Mae-grounded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7193128" y="3557016"/>
            <a:ext cx="4267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MISMO/ULDD terms verified against the official spec — never invented.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640080" y="4754880"/>
            <a:ext cx="640080" cy="640080"/>
          </a:xfrm>
          <a:prstGeom prst="ellipse">
            <a:avLst/>
          </a:prstGeom>
          <a:solidFill>
            <a:srgbClr val="0B7A5E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302" y="4934102"/>
            <a:ext cx="281635" cy="28163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508760" y="4663440"/>
            <a:ext cx="426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NMLS identity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1508760" y="5020056"/>
            <a:ext cx="4267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company identifier prints on the package the day licensing lands.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6324448" y="4754880"/>
            <a:ext cx="640080" cy="640080"/>
          </a:xfrm>
          <a:prstGeom prst="ellipse">
            <a:avLst/>
          </a:prstGeom>
          <a:solidFill>
            <a:srgbClr val="1C3A8F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3670" y="4934102"/>
            <a:ext cx="281635" cy="281635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193128" y="4663440"/>
            <a:ext cx="426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package makes no promises</a:t>
            </a:r>
            <a:endParaRPr lang="en-US" sz="1500" dirty="0"/>
          </a:p>
        </p:txBody>
      </p:sp>
      <p:sp>
        <p:nvSpPr>
          <p:cNvPr id="27" name="Text 19"/>
          <p:cNvSpPr/>
          <p:nvPr/>
        </p:nvSpPr>
        <p:spPr>
          <a:xfrm>
            <a:off x="7193128" y="5020056"/>
            <a:ext cx="4267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validation language — no approval or eligibility claims.</a:t>
            </a:r>
            <a:endParaRPr lang="en-US" sz="1250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5989320"/>
            <a:ext cx="256032" cy="256032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950976" y="5971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Veteran-founded</a:t>
            </a:r>
            <a:endParaRPr lang="en-US" sz="1100" dirty="0"/>
          </a:p>
        </p:txBody>
      </p:sp>
      <p:sp>
        <p:nvSpPr>
          <p:cNvPr id="30" name="Text 21"/>
          <p:cNvSpPr/>
          <p:nvPr/>
        </p:nvSpPr>
        <p:spPr>
          <a:xfrm>
            <a:off x="640080" y="64739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Homiquity Mortgage Corp.</a:t>
            </a:r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Confidential — for prospective wholesale-lender partners</a:t>
            </a:r>
            <a:endParaRPr lang="en-US" sz="900" dirty="0"/>
          </a:p>
        </p:txBody>
      </p:sp>
      <p:sp>
        <p:nvSpPr>
          <p:cNvPr id="31" name="Text 22"/>
          <p:cNvSpPr/>
          <p:nvPr/>
        </p:nvSpPr>
        <p:spPr>
          <a:xfrm>
            <a:off x="1118585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and validated today — live on credentialing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3977640"/>
          </a:xfrm>
          <a:prstGeom prst="roundRect">
            <a:avLst>
              <a:gd name="adj" fmla="val 2759"/>
            </a:avLst>
          </a:prstGeom>
          <a:solidFill>
            <a:srgbClr val="E9F6F0"/>
          </a:solidFill>
          <a:ln/>
          <a:effectLst>
            <a:outerShdw sx="100000" sy="100000" kx="0" ky="0" algn="bl" rotWithShape="0" blurRad="88900" dist="38100" dir="5400000">
              <a:srgbClr val="9AA6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03120"/>
            <a:ext cx="548640" cy="548640"/>
          </a:xfrm>
          <a:prstGeom prst="ellipse">
            <a:avLst/>
          </a:prstGeom>
          <a:solidFill>
            <a:srgbClr val="0B7A5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739" y="225673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1031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end to end now</a:t>
            </a:r>
            <a:endParaRPr lang="en-US" sz="17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944368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53312" y="292608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intake → decision → package → delivery loop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493008"/>
            <a:ext cx="201168" cy="2011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53312" y="347472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3.4 / ULDD-valid export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041648"/>
            <a:ext cx="201168" cy="2011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53312" y="402336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underwriting + dual-AUS legs</a:t>
            </a:r>
            <a:endParaRPr lang="en-US" sz="13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590288"/>
            <a:ext cx="201168" cy="20116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353312" y="457200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engines (QM, SFC, edit mirror)</a:t>
            </a:r>
            <a:endParaRPr lang="en-US" sz="13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5138928"/>
            <a:ext cx="201168" cy="20116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353312" y="512064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vendor call runs behind a production adapter</a:t>
            </a:r>
            <a:endParaRPr lang="en-US" sz="1300" dirty="0"/>
          </a:p>
        </p:txBody>
      </p:sp>
      <p:sp>
        <p:nvSpPr>
          <p:cNvPr id="18" name="Shape 10"/>
          <p:cNvSpPr/>
          <p:nvPr/>
        </p:nvSpPr>
        <p:spPr>
          <a:xfrm>
            <a:off x="6355080" y="1783080"/>
            <a:ext cx="5166360" cy="3977640"/>
          </a:xfrm>
          <a:prstGeom prst="roundRect">
            <a:avLst>
              <a:gd name="adj" fmla="val 2759"/>
            </a:avLst>
          </a:prstGeom>
          <a:solidFill>
            <a:srgbClr val="EEF2FB"/>
          </a:solidFill>
          <a:ln/>
          <a:effectLst>
            <a:outerShdw sx="100000" sy="100000" kx="0" ky="0" algn="bl" rotWithShape="0" blurRad="88900" dist="38100" dir="5400000">
              <a:srgbClr val="9AA6B8">
                <a:alpha val="28000"/>
              </a:srgbClr>
            </a:outerShdw>
          </a:effectLst>
        </p:spPr>
      </p:sp>
      <p:sp>
        <p:nvSpPr>
          <p:cNvPr id="19" name="Shape 11"/>
          <p:cNvSpPr/>
          <p:nvPr/>
        </p:nvSpPr>
        <p:spPr>
          <a:xfrm>
            <a:off x="6675120" y="2103120"/>
            <a:ext cx="548640" cy="548640"/>
          </a:xfrm>
          <a:prstGeom prst="ellipse">
            <a:avLst/>
          </a:prstGeom>
          <a:solidFill>
            <a:srgbClr val="1C3A8F"/>
          </a:solidFill>
          <a:ln/>
        </p:spPr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28739" y="2256739"/>
            <a:ext cx="241402" cy="241402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7360920" y="21031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live</a:t>
            </a:r>
            <a:endParaRPr lang="en-US" sz="170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0840" y="2944368"/>
            <a:ext cx="201168" cy="201168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7068312" y="29260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NMLS licensing — in progress (the long-lead item)</a:t>
            </a:r>
            <a:endParaRPr lang="en-US" sz="130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20840" y="3511296"/>
            <a:ext cx="201168" cy="201168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7068312" y="34930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signed broker agreement with your channel</a:t>
            </a:r>
            <a:endParaRPr lang="en-US" sz="1300" dirty="0"/>
          </a:p>
        </p:txBody>
      </p:sp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20840" y="4078224"/>
            <a:ext cx="201168" cy="201168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7068312" y="405993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adapter swap per vendor (credit, DU/LPA, AVM)</a:t>
            </a:r>
            <a:endParaRPr lang="en-US" sz="1300" dirty="0"/>
          </a:p>
        </p:txBody>
      </p:sp>
      <p:pic>
        <p:nvPicPr>
          <p:cNvPr id="2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20840" y="4645152"/>
            <a:ext cx="201168" cy="201168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7068312" y="462686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keys (email, storage) — a day of setup</a:t>
            </a:r>
            <a:endParaRPr lang="en-US" sz="1300" dirty="0"/>
          </a:p>
        </p:txBody>
      </p:sp>
      <p:sp>
        <p:nvSpPr>
          <p:cNvPr id="30" name="Text 17"/>
          <p:cNvSpPr/>
          <p:nvPr/>
        </p:nvSpPr>
        <p:spPr>
          <a:xfrm>
            <a:off x="6675120" y="525780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integration seam is already in place — going live is configuration, not a rebuild.</a:t>
            </a:r>
            <a:endParaRPr lang="en-US" sz="1200" dirty="0"/>
          </a:p>
        </p:txBody>
      </p:sp>
      <p:sp>
        <p:nvSpPr>
          <p:cNvPr id="31" name="Text 18"/>
          <p:cNvSpPr/>
          <p:nvPr/>
        </p:nvSpPr>
        <p:spPr>
          <a:xfrm>
            <a:off x="640080" y="64739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Homiquity Mortgage Corp.</a:t>
            </a:r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Confidential — for prospective wholesale-lender partners</a:t>
            </a:r>
            <a:endParaRPr lang="en-US" sz="900" dirty="0"/>
          </a:p>
        </p:txBody>
      </p:sp>
      <p:sp>
        <p:nvSpPr>
          <p:cNvPr id="32" name="Text 19"/>
          <p:cNvSpPr/>
          <p:nvPr/>
        </p:nvSpPr>
        <p:spPr>
          <a:xfrm>
            <a:off x="1118585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2A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206240"/>
            <a:ext cx="4023360" cy="4023360"/>
          </a:xfrm>
          <a:prstGeom prst="ellipse">
            <a:avLst/>
          </a:prstGeom>
          <a:solidFill>
            <a:srgbClr val="1C3A8F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1188720"/>
            <a:ext cx="3108960" cy="3108960"/>
          </a:xfrm>
          <a:prstGeom prst="ellipse">
            <a:avLst/>
          </a:prstGeom>
          <a:solidFill>
            <a:srgbClr val="10B981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34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Credential us on your</a:t>
            </a:r>
            <a:endParaRPr lang="en-US" sz="4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TPO channel.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42900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D5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is built and validated. We're completing licensing now. Let's set up a live pilot the day it clears — and prove first-pass, standards-valid delivery on real files.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4709160"/>
            <a:ext cx="76809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489204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Homiquity Mortgage Corporation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[Founder name — TODO]</a:t>
            </a:r>
            <a:endParaRPr lang="en-US" sz="16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C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support@homiquity.com  ·  [phone — TODO]  ·  homiquity.com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60533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NMLS # prints here once issued.</a:t>
            </a:r>
            <a:endParaRPr lang="en-US" sz="1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5029200"/>
            <a:ext cx="256032" cy="25603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540496" y="501091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Veteran-founded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229600" y="55778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prospective wholesale-lender partners.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 the hood — architecture &amp; compliance base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11535" cy="960120"/>
          </a:xfrm>
          <a:prstGeom prst="roundRect">
            <a:avLst>
              <a:gd name="adj" fmla="val 9524"/>
            </a:avLst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2002536"/>
            <a:ext cx="530352" cy="530352"/>
          </a:xfrm>
          <a:prstGeom prst="ellipse">
            <a:avLst/>
          </a:prstGeom>
          <a:solidFill>
            <a:srgbClr val="1C3A8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611" y="2151035"/>
            <a:ext cx="233355" cy="23335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9280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architecture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846320" y="1892808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external vendor (credit, DU/LPA, AVM, lender submission) sits behind one adapter function — a single, tested seam that flips from simulation to live per contract.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2880360"/>
            <a:ext cx="10911535" cy="960120"/>
          </a:xfrm>
          <a:prstGeom prst="roundRect">
            <a:avLst>
              <a:gd name="adj" fmla="val 9524"/>
            </a:avLst>
          </a:prstGeom>
          <a:solidFill>
            <a:srgbClr val="F1F5F9"/>
          </a:solidFill>
          <a:ln/>
        </p:spPr>
      </p:sp>
      <p:sp>
        <p:nvSpPr>
          <p:cNvPr id="10" name="Shape 7"/>
          <p:cNvSpPr/>
          <p:nvPr/>
        </p:nvSpPr>
        <p:spPr>
          <a:xfrm>
            <a:off x="896112" y="3099816"/>
            <a:ext cx="530352" cy="530352"/>
          </a:xfrm>
          <a:prstGeom prst="ellipse">
            <a:avLst/>
          </a:prstGeom>
          <a:solidFill>
            <a:srgbClr val="1C3A8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611" y="3248315"/>
            <a:ext cx="233355" cy="23335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299008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core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846320" y="2990088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underwriting engine is pure and vendor-free: same inputs, same outcome, with typed error classification.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3977640"/>
            <a:ext cx="10911535" cy="960120"/>
          </a:xfrm>
          <a:prstGeom prst="roundRect">
            <a:avLst>
              <a:gd name="adj" fmla="val 9524"/>
            </a:avLst>
          </a:prstGeom>
          <a:solidFill>
            <a:srgbClr val="F1F5F9"/>
          </a:solidFill>
          <a:ln/>
        </p:spPr>
      </p:sp>
      <p:sp>
        <p:nvSpPr>
          <p:cNvPr id="15" name="Shape 11"/>
          <p:cNvSpPr/>
          <p:nvPr/>
        </p:nvSpPr>
        <p:spPr>
          <a:xfrm>
            <a:off x="896112" y="4197096"/>
            <a:ext cx="530352" cy="530352"/>
          </a:xfrm>
          <a:prstGeom prst="ellipse">
            <a:avLst/>
          </a:prstGeom>
          <a:solidFill>
            <a:srgbClr val="1C3A8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611" y="4345595"/>
            <a:ext cx="233355" cy="23335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08736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Fannie Mae reference base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4846320" y="4087368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3.4 / ULDD Phase 5, UCD, Special Feature Codes and edit codes are grounded in the official spec set — terminology is verified, never invented.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080" y="5074920"/>
            <a:ext cx="10911535" cy="960120"/>
          </a:xfrm>
          <a:prstGeom prst="roundRect">
            <a:avLst>
              <a:gd name="adj" fmla="val 9524"/>
            </a:avLst>
          </a:prstGeom>
          <a:solidFill>
            <a:srgbClr val="F1F5F9"/>
          </a:solidFill>
          <a:ln/>
        </p:spPr>
      </p:sp>
      <p:sp>
        <p:nvSpPr>
          <p:cNvPr id="20" name="Shape 15"/>
          <p:cNvSpPr/>
          <p:nvPr/>
        </p:nvSpPr>
        <p:spPr>
          <a:xfrm>
            <a:off x="896112" y="5294376"/>
            <a:ext cx="530352" cy="530352"/>
          </a:xfrm>
          <a:prstGeom prst="ellipse">
            <a:avLst/>
          </a:prstGeom>
          <a:solidFill>
            <a:srgbClr val="1C3A8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611" y="5442875"/>
            <a:ext cx="233355" cy="23335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91640" y="518464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NMLS reference base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4846320" y="5184648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 logic is grounded in the NMLS Policy Guidebook and SAFE-Act mapping — state law controls, discrepancies escalate.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640080" y="64739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Homiquity Mortgage Corp.</a:t>
            </a:r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Confidential — for prospective wholesale-lender partners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18585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Homiquity Mortgage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Homiquity — Lender Demo</dc:title>
  <dc:subject>PptxGenJS Presentation</dc:subject>
  <dc:creator>Homiquity Mortgage Corporation</dc:creator>
  <cp:lastModifiedBy>Homiquity Mortgage Corporation</cp:lastModifiedBy>
  <cp:revision>1</cp:revision>
  <dcterms:created xsi:type="dcterms:W3CDTF">2026-07-11T04:02:06Z</dcterms:created>
  <dcterms:modified xsi:type="dcterms:W3CDTF">2026-07-11T04:02:06Z</dcterms:modified>
</cp:coreProperties>
</file>